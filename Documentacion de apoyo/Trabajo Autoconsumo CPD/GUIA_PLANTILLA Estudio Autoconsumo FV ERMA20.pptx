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708" r:id="rId2"/>
    <p:sldId id="256" r:id="rId3"/>
    <p:sldId id="641" r:id="rId4"/>
    <p:sldId id="700" r:id="rId5"/>
    <p:sldId id="646" r:id="rId6"/>
    <p:sldId id="693" r:id="rId7"/>
    <p:sldId id="648" r:id="rId8"/>
    <p:sldId id="690" r:id="rId9"/>
    <p:sldId id="691" r:id="rId10"/>
    <p:sldId id="650" r:id="rId11"/>
    <p:sldId id="651" r:id="rId12"/>
    <p:sldId id="653" r:id="rId13"/>
    <p:sldId id="623" r:id="rId14"/>
    <p:sldId id="702" r:id="rId15"/>
    <p:sldId id="699" r:id="rId16"/>
    <p:sldId id="701" r:id="rId17"/>
    <p:sldId id="605" r:id="rId18"/>
    <p:sldId id="663" r:id="rId19"/>
    <p:sldId id="689" r:id="rId20"/>
    <p:sldId id="603" r:id="rId21"/>
    <p:sldId id="627" r:id="rId22"/>
    <p:sldId id="703" r:id="rId23"/>
    <p:sldId id="681" r:id="rId24"/>
    <p:sldId id="677" r:id="rId25"/>
    <p:sldId id="633" r:id="rId26"/>
    <p:sldId id="694" r:id="rId27"/>
    <p:sldId id="704" r:id="rId28"/>
    <p:sldId id="705" r:id="rId29"/>
    <p:sldId id="595" r:id="rId30"/>
    <p:sldId id="683" r:id="rId31"/>
    <p:sldId id="672" r:id="rId32"/>
    <p:sldId id="678" r:id="rId33"/>
    <p:sldId id="679" r:id="rId34"/>
    <p:sldId id="676" r:id="rId35"/>
    <p:sldId id="562" r:id="rId36"/>
    <p:sldId id="673" r:id="rId37"/>
    <p:sldId id="582" r:id="rId38"/>
    <p:sldId id="592" r:id="rId39"/>
  </p:sldIdLst>
  <p:sldSz cx="9144000" cy="6858000" type="screen4x3"/>
  <p:notesSz cx="6729413" cy="9621838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CC0066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CC0066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CC0066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CC0066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CC0066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2000" b="1" kern="1200">
        <a:solidFill>
          <a:srgbClr val="CC0066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2000" b="1" kern="1200">
        <a:solidFill>
          <a:srgbClr val="CC0066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2000" b="1" kern="1200">
        <a:solidFill>
          <a:srgbClr val="CC0066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2000" b="1" kern="1200">
        <a:solidFill>
          <a:srgbClr val="CC0066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  <a:srgbClr val="33CCFF"/>
    <a:srgbClr val="FF9900"/>
    <a:srgbClr val="EAF2FE"/>
    <a:srgbClr val="F4F4F4"/>
    <a:srgbClr val="FFFFCC"/>
    <a:srgbClr val="E6E6E6"/>
    <a:srgbClr val="CC0066"/>
    <a:srgbClr val="0080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1" autoAdjust="0"/>
    <p:restoredTop sz="82270" autoAdjust="0"/>
  </p:normalViewPr>
  <p:slideViewPr>
    <p:cSldViewPr>
      <p:cViewPr varScale="1">
        <p:scale>
          <a:sx n="58" d="100"/>
          <a:sy n="58" d="100"/>
        </p:scale>
        <p:origin x="1348" y="44"/>
      </p:cViewPr>
      <p:guideLst>
        <p:guide orient="horz" pos="2115"/>
        <p:guide pos="2880"/>
      </p:guideLst>
    </p:cSldViewPr>
  </p:slideViewPr>
  <p:outlineViewPr>
    <p:cViewPr>
      <p:scale>
        <a:sx n="75" d="100"/>
        <a:sy n="75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0.xml"/><Relationship Id="rId13" Type="http://schemas.openxmlformats.org/officeDocument/2006/relationships/slide" Target="slides/slide20.xml"/><Relationship Id="rId18" Type="http://schemas.openxmlformats.org/officeDocument/2006/relationships/slide" Target="slides/slide27.xml"/><Relationship Id="rId3" Type="http://schemas.openxmlformats.org/officeDocument/2006/relationships/slide" Target="slides/slide4.xml"/><Relationship Id="rId21" Type="http://schemas.openxmlformats.org/officeDocument/2006/relationships/slide" Target="slides/slide35.xml"/><Relationship Id="rId7" Type="http://schemas.openxmlformats.org/officeDocument/2006/relationships/slide" Target="slides/slide9.xml"/><Relationship Id="rId12" Type="http://schemas.openxmlformats.org/officeDocument/2006/relationships/slide" Target="slides/slide18.xml"/><Relationship Id="rId17" Type="http://schemas.openxmlformats.org/officeDocument/2006/relationships/slide" Target="slides/slide26.xml"/><Relationship Id="rId2" Type="http://schemas.openxmlformats.org/officeDocument/2006/relationships/slide" Target="slides/slide3.xml"/><Relationship Id="rId16" Type="http://schemas.openxmlformats.org/officeDocument/2006/relationships/slide" Target="slides/slide23.xml"/><Relationship Id="rId20" Type="http://schemas.openxmlformats.org/officeDocument/2006/relationships/slide" Target="slides/slide29.xml"/><Relationship Id="rId1" Type="http://schemas.openxmlformats.org/officeDocument/2006/relationships/slide" Target="slides/slide2.xml"/><Relationship Id="rId6" Type="http://schemas.openxmlformats.org/officeDocument/2006/relationships/slide" Target="slides/slide8.xml"/><Relationship Id="rId11" Type="http://schemas.openxmlformats.org/officeDocument/2006/relationships/slide" Target="slides/slide17.xml"/><Relationship Id="rId5" Type="http://schemas.openxmlformats.org/officeDocument/2006/relationships/slide" Target="slides/slide7.xml"/><Relationship Id="rId15" Type="http://schemas.openxmlformats.org/officeDocument/2006/relationships/slide" Target="slides/slide22.xml"/><Relationship Id="rId23" Type="http://schemas.openxmlformats.org/officeDocument/2006/relationships/slide" Target="slides/slide37.xml"/><Relationship Id="rId10" Type="http://schemas.openxmlformats.org/officeDocument/2006/relationships/slide" Target="slides/slide12.xml"/><Relationship Id="rId19" Type="http://schemas.openxmlformats.org/officeDocument/2006/relationships/slide" Target="slides/slide28.xml"/><Relationship Id="rId4" Type="http://schemas.openxmlformats.org/officeDocument/2006/relationships/slide" Target="slides/slide6.xml"/><Relationship Id="rId9" Type="http://schemas.openxmlformats.org/officeDocument/2006/relationships/slide" Target="slides/slide11.xml"/><Relationship Id="rId14" Type="http://schemas.openxmlformats.org/officeDocument/2006/relationships/slide" Target="slides/slide21.xml"/><Relationship Id="rId22" Type="http://schemas.openxmlformats.org/officeDocument/2006/relationships/slide" Target="slides/slide3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>
            <a:extLst>
              <a:ext uri="{FF2B5EF4-FFF2-40B4-BE49-F238E27FC236}">
                <a16:creationId xmlns:a16="http://schemas.microsoft.com/office/drawing/2014/main" id="{733F968C-4DE7-476C-838D-EE1DC93C7F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50000"/>
              </a:spcBef>
              <a:buFont typeface="Wingdings" pitchFamily="2" charset="2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C514856F-5A70-44D5-AAF7-02199AD6A34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6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buFont typeface="Wingdings" pitchFamily="2" charset="2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22564" name="Rectangle 4">
            <a:extLst>
              <a:ext uri="{FF2B5EF4-FFF2-40B4-BE49-F238E27FC236}">
                <a16:creationId xmlns:a16="http://schemas.microsoft.com/office/drawing/2014/main" id="{13DA7748-D687-47B9-8749-AF36BF48D5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0825"/>
            <a:ext cx="2916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50000"/>
              </a:spcBef>
              <a:buFont typeface="Wingdings" pitchFamily="2" charset="2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22565" name="Rectangle 5">
            <a:extLst>
              <a:ext uri="{FF2B5EF4-FFF2-40B4-BE49-F238E27FC236}">
                <a16:creationId xmlns:a16="http://schemas.microsoft.com/office/drawing/2014/main" id="{03282069-783B-4880-84E8-A541DC04463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140825"/>
            <a:ext cx="2916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buFont typeface="Wingdings" panose="05000000000000000000" pitchFamily="2" charset="2"/>
              <a:buNone/>
              <a:defRPr sz="1200"/>
            </a:lvl1pPr>
          </a:lstStyle>
          <a:p>
            <a:fld id="{7DC1D5FD-103E-4C0E-8DCE-D54FC75BD6DD}" type="slidenum">
              <a:rPr lang="es-ES" altLang="es-ES"/>
              <a:pPr/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>
            <a:extLst>
              <a:ext uri="{FF2B5EF4-FFF2-40B4-BE49-F238E27FC236}">
                <a16:creationId xmlns:a16="http://schemas.microsoft.com/office/drawing/2014/main" id="{12D74AD8-E20A-4887-88E6-143DAA54F9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54659" name="Rectangle 3">
            <a:extLst>
              <a:ext uri="{FF2B5EF4-FFF2-40B4-BE49-F238E27FC236}">
                <a16:creationId xmlns:a16="http://schemas.microsoft.com/office/drawing/2014/main" id="{30066BF7-1EE3-4910-9D38-AC2203DF91A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11588" y="0"/>
            <a:ext cx="291623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914F0D9D-855F-4BB7-8EF5-C60DE46D4FD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2025" y="722313"/>
            <a:ext cx="4806950" cy="3606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4661" name="Rectangle 5">
            <a:extLst>
              <a:ext uri="{FF2B5EF4-FFF2-40B4-BE49-F238E27FC236}">
                <a16:creationId xmlns:a16="http://schemas.microsoft.com/office/drawing/2014/main" id="{29204FE6-896C-4351-8EEB-87B32A677D0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570413"/>
            <a:ext cx="5383213" cy="432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454662" name="Rectangle 6">
            <a:extLst>
              <a:ext uri="{FF2B5EF4-FFF2-40B4-BE49-F238E27FC236}">
                <a16:creationId xmlns:a16="http://schemas.microsoft.com/office/drawing/2014/main" id="{F2720E46-98BE-4F59-BA0D-CB7E3E23C4B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39238"/>
            <a:ext cx="291623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54663" name="Rectangle 7">
            <a:extLst>
              <a:ext uri="{FF2B5EF4-FFF2-40B4-BE49-F238E27FC236}">
                <a16:creationId xmlns:a16="http://schemas.microsoft.com/office/drawing/2014/main" id="{AD89ED12-6F61-4754-A060-AF4334DC07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1588" y="9139238"/>
            <a:ext cx="2916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A70C24FC-5CAA-4C22-92F1-814A65FC1041}" type="slidenum">
              <a:rPr lang="es-ES" altLang="es-ES"/>
              <a:pPr/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39AB2A-7535-491B-B7ED-1EDC04682A83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8537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2A676FE0-C046-4374-A1D2-E13E866B74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D6428338-9F8C-4FA7-8094-50AE3BE7F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2A676FE0-C046-4374-A1D2-E13E866B74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D6428338-9F8C-4FA7-8094-50AE3BE7F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864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Marcador de imagen de diapositiva 1">
            <a:extLst>
              <a:ext uri="{FF2B5EF4-FFF2-40B4-BE49-F238E27FC236}">
                <a16:creationId xmlns:a16="http://schemas.microsoft.com/office/drawing/2014/main" id="{61F7AD4C-8669-44B2-8415-924BB80B1E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Marcador de notas 2">
            <a:extLst>
              <a:ext uri="{FF2B5EF4-FFF2-40B4-BE49-F238E27FC236}">
                <a16:creationId xmlns:a16="http://schemas.microsoft.com/office/drawing/2014/main" id="{5F18DE89-E248-4FCD-8F73-CF5DA7F96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2A491E63-B9EC-4DBB-94FF-79692F647E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3824F141-1A04-4517-8F6A-5546253F2E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546491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047C150C-6B35-422F-AA27-1EC072739E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F4915E32-FD4F-4F40-ABF0-1D8186E957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2B6A9C40-CBDC-42E5-9E2D-B860C12604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F2198334-CFE7-4D2F-BE6D-5475920C45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906180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C2D335BF-3AC0-437B-A042-0BEE1DD8F7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1F7B500F-E6C3-473F-978B-776403DB4A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DDC10B9D-1853-4072-B27B-E6C84356BE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581BD5AB-9F5B-458A-B15C-98D1265A3B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3D004DE6-5893-4E87-9574-397A7E9F0B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C0EB22B3-0E2D-4B95-98B5-1CEDE1BD0D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6A90CBBD-85C2-46AD-A8E5-D513DE05E0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E5DC587B-E2A1-4F4B-A83C-398AB44A3C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9321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02357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95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5151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77317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338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044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748209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28147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956978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2616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26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065588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457200" y="0"/>
            <a:ext cx="8229600" cy="6126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124007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BF94C9F-B655-451A-9DEC-BA8EA0F4C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0"/>
            <a:ext cx="6477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/>
              <a:t>Tesis doctoral: Análisis de parámetros técnicos en la ...</a:t>
            </a:r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Times New Roman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igpac.mapa.es/fega/visor" TargetMode="External"/><Relationship Id="rId2" Type="http://schemas.openxmlformats.org/officeDocument/2006/relationships/hyperlink" Target="http://www.sedecatastro.gob.es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ndustria.gob.es/Calidad-Industrial/legislaciongeneral/Paginas/index.aspx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emet.es/es/serviciosclimaticos/datosclimatologicos/efemerides_extremos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taiyangnews.info/top-modules/top-solar-modules-listing-june-2024/" TargetMode="External"/><Relationship Id="rId3" Type="http://schemas.openxmlformats.org/officeDocument/2006/relationships/hyperlink" Target="https://news.energysage.com/best-solar-panels-complete-ranking/" TargetMode="External"/><Relationship Id="rId7" Type="http://schemas.openxmlformats.org/officeDocument/2006/relationships/hyperlink" Target="https://www.solarfeeds.com/mag/top-bankable-modules-based-on-pv-tech-research/" TargetMode="External"/><Relationship Id="rId2" Type="http://schemas.openxmlformats.org/officeDocument/2006/relationships/hyperlink" Target="https://solaranalytica.com/tier-1-solar-panels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blackridgeresearch.com/blog/top-solar-pv-module-panel-manufacturers-companies-suppliers-producers" TargetMode="External"/><Relationship Id="rId5" Type="http://schemas.openxmlformats.org/officeDocument/2006/relationships/hyperlink" Target="https://www.semprius.com/best-solar-panel-manufacturers/" TargetMode="External"/><Relationship Id="rId4" Type="http://schemas.openxmlformats.org/officeDocument/2006/relationships/hyperlink" Target="https://www.cleanenergyreviews.info/blog/best-solar-panels-review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fe-solar.com/noticias/articulos/mejores-inversores-solares-mundo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olarplus.es/inversores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7439" y="-5380"/>
            <a:ext cx="9160464" cy="687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4427984" y="3284984"/>
            <a:ext cx="4392613" cy="3240088"/>
          </a:xfrm>
          <a:prstGeom prst="rect">
            <a:avLst/>
          </a:prstGeom>
          <a:solidFill>
            <a:srgbClr val="FFFFFF">
              <a:alpha val="69804"/>
            </a:srgbClr>
          </a:solidFill>
          <a:ln w="28575">
            <a:solidFill>
              <a:schemeClr val="bg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s-ES" u="sng" dirty="0">
              <a:latin typeface="Calibri" pitchFamily="34" charset="0"/>
            </a:endParaRPr>
          </a:p>
        </p:txBody>
      </p:sp>
      <p:sp>
        <p:nvSpPr>
          <p:cNvPr id="2052" name="Text Box 5"/>
          <p:cNvSpPr txBox="1">
            <a:spLocks noChangeArrowheads="1"/>
          </p:cNvSpPr>
          <p:nvPr/>
        </p:nvSpPr>
        <p:spPr bwMode="auto">
          <a:xfrm>
            <a:off x="5103841" y="3359855"/>
            <a:ext cx="304089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2000" b="1" u="none" dirty="0">
                <a:solidFill>
                  <a:srgbClr val="0070C0"/>
                </a:solidFill>
                <a:latin typeface="Calibri" pitchFamily="34" charset="0"/>
              </a:rPr>
              <a:t>Módulo </a:t>
            </a:r>
            <a:r>
              <a:rPr lang="es-ES_tradnl" sz="2000" b="1" u="none" dirty="0" smtClean="0">
                <a:solidFill>
                  <a:srgbClr val="0070C0"/>
                </a:solidFill>
                <a:latin typeface="Calibri" pitchFamily="34" charset="0"/>
              </a:rPr>
              <a:t>6</a:t>
            </a:r>
            <a:endParaRPr lang="es-ES_tradnl" sz="2000" b="1" u="none" dirty="0">
              <a:solidFill>
                <a:srgbClr val="0070C0"/>
              </a:solidFill>
              <a:latin typeface="Calibri" pitchFamily="34" charset="0"/>
            </a:endParaRPr>
          </a:p>
          <a:p>
            <a:pPr algn="ctr"/>
            <a:r>
              <a:rPr lang="es-ES_tradnl" sz="2000" b="1" u="none" dirty="0" smtClean="0">
                <a:solidFill>
                  <a:srgbClr val="0070C0"/>
                </a:solidFill>
                <a:latin typeface="Calibri" pitchFamily="34" charset="0"/>
              </a:rPr>
              <a:t>Autoconsumo Fotovoltaico</a:t>
            </a:r>
            <a:endParaRPr lang="es-ES" sz="2000" b="1" u="none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572793" y="4212530"/>
            <a:ext cx="405353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 sz="2800" dirty="0">
                <a:solidFill>
                  <a:srgbClr val="0070C0"/>
                </a:solidFill>
                <a:latin typeface="Calibri" panose="020F0502020204030204" pitchFamily="34" charset="0"/>
              </a:rPr>
              <a:t>Guía del </a:t>
            </a:r>
            <a:r>
              <a:rPr lang="es-ES_tradnl" altLang="es-ES" sz="2800" dirty="0" smtClean="0">
                <a:solidFill>
                  <a:srgbClr val="0070C0"/>
                </a:solidFill>
                <a:latin typeface="Calibri" panose="020F0502020204030204" pitchFamily="34" charset="0"/>
              </a:rPr>
              <a:t>estudio de autoconsumo </a:t>
            </a:r>
            <a:r>
              <a:rPr lang="es-ES_tradnl" altLang="es-ES" sz="2800" dirty="0">
                <a:solidFill>
                  <a:srgbClr val="0070C0"/>
                </a:solidFill>
                <a:latin typeface="Calibri" panose="020F0502020204030204" pitchFamily="34" charset="0"/>
              </a:rPr>
              <a:t>fotovoltaico</a:t>
            </a:r>
            <a:endParaRPr lang="es-ES" altLang="es-ES" sz="2800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4953848" y="5853254"/>
            <a:ext cx="334088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ctr" eaLnBrk="1" hangingPunct="1">
              <a:defRPr/>
            </a:pPr>
            <a:r>
              <a:rPr lang="es-ES" sz="1600" i="1" u="none" dirty="0">
                <a:solidFill>
                  <a:srgbClr val="0070C0"/>
                </a:solidFill>
                <a:latin typeface="Calibri" pitchFamily="34" charset="0"/>
                <a:cs typeface="Arial" charset="0"/>
              </a:rPr>
              <a:t>Julio Amador Guerra</a:t>
            </a:r>
          </a:p>
          <a:p>
            <a:pPr lvl="0" algn="ctr" eaLnBrk="1" hangingPunct="1">
              <a:defRPr/>
            </a:pPr>
            <a:r>
              <a:rPr lang="es-ES" sz="1600" i="1" u="none" dirty="0">
                <a:solidFill>
                  <a:srgbClr val="0070C0"/>
                </a:solidFill>
                <a:latin typeface="Calibri" pitchFamily="34" charset="0"/>
                <a:cs typeface="Arial" charset="0"/>
              </a:rPr>
              <a:t>Universidad Politécnica de Madrid</a:t>
            </a:r>
          </a:p>
        </p:txBody>
      </p:sp>
    </p:spTree>
    <p:extLst>
      <p:ext uri="{BB962C8B-B14F-4D97-AF65-F5344CB8AC3E}">
        <p14:creationId xmlns:p14="http://schemas.microsoft.com/office/powerpoint/2010/main" val="248260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4259321-D524-4951-A879-167171E77D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50825" y="404813"/>
            <a:ext cx="8642350" cy="1008062"/>
          </a:xfrm>
        </p:spPr>
        <p:txBody>
          <a:bodyPr/>
          <a:lstStyle/>
          <a:p>
            <a:pPr eaLnBrk="1" hangingPunct="1"/>
            <a:r>
              <a:rPr lang="es-ES" altLang="es-ES" sz="2400" b="1" dirty="0">
                <a:solidFill>
                  <a:srgbClr val="7030A0"/>
                </a:solidFill>
              </a:rPr>
              <a:t>Guía para la realización </a:t>
            </a:r>
            <a:r>
              <a:rPr lang="es-ES" altLang="es-ES" sz="2400" b="1" dirty="0" smtClean="0">
                <a:solidFill>
                  <a:srgbClr val="7030A0"/>
                </a:solidFill>
              </a:rPr>
              <a:t>del estudio de autoconsumo fotovoltaico conectado a red </a:t>
            </a:r>
            <a:r>
              <a:rPr lang="es-ES" altLang="es-ES" sz="2400" b="1" dirty="0">
                <a:solidFill>
                  <a:srgbClr val="7030A0"/>
                </a:solidFill>
              </a:rPr>
              <a:t>en edificios</a:t>
            </a:r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9D543538-D5C9-4CA5-B98B-1CE1CE4F3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34975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s-ES" altLang="es-ES"/>
          </a:p>
        </p:txBody>
      </p:sp>
      <p:grpSp>
        <p:nvGrpSpPr>
          <p:cNvPr id="9220" name="19 Grupo">
            <a:extLst>
              <a:ext uri="{FF2B5EF4-FFF2-40B4-BE49-F238E27FC236}">
                <a16:creationId xmlns:a16="http://schemas.microsoft.com/office/drawing/2014/main" id="{08904A28-7418-41D8-8C37-F368887081E5}"/>
              </a:ext>
            </a:extLst>
          </p:cNvPr>
          <p:cNvGrpSpPr>
            <a:grpSpLocks/>
          </p:cNvGrpSpPr>
          <p:nvPr/>
        </p:nvGrpSpPr>
        <p:grpSpPr bwMode="auto">
          <a:xfrm>
            <a:off x="1187624" y="1751013"/>
            <a:ext cx="936625" cy="1570038"/>
            <a:chOff x="395536" y="908720"/>
            <a:chExt cx="936104" cy="1569660"/>
          </a:xfrm>
        </p:grpSpPr>
        <p:sp>
          <p:nvSpPr>
            <p:cNvPr id="9241" name="20 Rectángulo">
              <a:extLst>
                <a:ext uri="{FF2B5EF4-FFF2-40B4-BE49-F238E27FC236}">
                  <a16:creationId xmlns:a16="http://schemas.microsoft.com/office/drawing/2014/main" id="{9BBAAC47-2522-4FE9-8EB2-8F0B24B55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9242" name="21 Elipse">
              <a:extLst>
                <a:ext uri="{FF2B5EF4-FFF2-40B4-BE49-F238E27FC236}">
                  <a16:creationId xmlns:a16="http://schemas.microsoft.com/office/drawing/2014/main" id="{26009284-3A29-451C-9D2C-3521D6A4F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pSp>
        <p:nvGrpSpPr>
          <p:cNvPr id="9221" name="22 Grupo">
            <a:extLst>
              <a:ext uri="{FF2B5EF4-FFF2-40B4-BE49-F238E27FC236}">
                <a16:creationId xmlns:a16="http://schemas.microsoft.com/office/drawing/2014/main" id="{D66BBA5D-CDE6-4AA7-8BBE-20A4BDF89D10}"/>
              </a:ext>
            </a:extLst>
          </p:cNvPr>
          <p:cNvGrpSpPr>
            <a:grpSpLocks/>
          </p:cNvGrpSpPr>
          <p:nvPr/>
        </p:nvGrpSpPr>
        <p:grpSpPr bwMode="auto">
          <a:xfrm>
            <a:off x="1836143" y="3500185"/>
            <a:ext cx="720725" cy="792162"/>
            <a:chOff x="755576" y="2204864"/>
            <a:chExt cx="720080" cy="792088"/>
          </a:xfrm>
        </p:grpSpPr>
        <p:sp>
          <p:nvSpPr>
            <p:cNvPr id="9239" name="23 Elipse">
              <a:extLst>
                <a:ext uri="{FF2B5EF4-FFF2-40B4-BE49-F238E27FC236}">
                  <a16:creationId xmlns:a16="http://schemas.microsoft.com/office/drawing/2014/main" id="{FAC62CF7-3034-4F44-AACA-7635DCB6E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9240" name="24 Flecha derecha">
              <a:extLst>
                <a:ext uri="{FF2B5EF4-FFF2-40B4-BE49-F238E27FC236}">
                  <a16:creationId xmlns:a16="http://schemas.microsoft.com/office/drawing/2014/main" id="{BB9E41C4-D591-4ECF-80AA-BEE75842C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33" name="32 Tabla">
            <a:extLst>
              <a:ext uri="{FF2B5EF4-FFF2-40B4-BE49-F238E27FC236}">
                <a16:creationId xmlns:a16="http://schemas.microsoft.com/office/drawing/2014/main" id="{22AFAE0F-085B-4A09-9803-DEA7841D7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8540"/>
              </p:ext>
            </p:extLst>
          </p:nvPr>
        </p:nvGraphicFramePr>
        <p:xfrm>
          <a:off x="1187624" y="1966913"/>
          <a:ext cx="6697290" cy="936625"/>
        </p:xfrm>
        <a:graphic>
          <a:graphicData uri="http://schemas.openxmlformats.org/drawingml/2006/table">
            <a:tbl>
              <a:tblPr/>
              <a:tblGrid>
                <a:gridCol w="977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endParaRPr lang="es-ES" sz="1800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1" dirty="0">
                          <a:solidFill>
                            <a:schemeClr val="tx1"/>
                          </a:solidFill>
                        </a:rPr>
                        <a:t>En cursiva información o explicación sobre el proceso</a:t>
                      </a:r>
                      <a:endParaRPr lang="es-ES" sz="1800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36 Tabla">
            <a:extLst>
              <a:ext uri="{FF2B5EF4-FFF2-40B4-BE49-F238E27FC236}">
                <a16:creationId xmlns:a16="http://schemas.microsoft.com/office/drawing/2014/main" id="{628D6FDA-4315-4814-9AF1-BE1BA56AD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385497"/>
              </p:ext>
            </p:extLst>
          </p:nvPr>
        </p:nvGraphicFramePr>
        <p:xfrm>
          <a:off x="1691680" y="3427160"/>
          <a:ext cx="5760640" cy="936625"/>
        </p:xfrm>
        <a:graphic>
          <a:graphicData uri="http://schemas.openxmlformats.org/drawingml/2006/table">
            <a:tbl>
              <a:tblPr/>
              <a:tblGrid>
                <a:gridCol w="1047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3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endParaRPr lang="es-ES" sz="1800" dirty="0"/>
                    </a:p>
                  </a:txBody>
                  <a:tcPr marL="91442" marR="91442" marT="45745" marB="4574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1" dirty="0">
                          <a:solidFill>
                            <a:schemeClr val="tx1"/>
                          </a:solidFill>
                        </a:rPr>
                        <a:t>En azul documentación o contenido a incluir</a:t>
                      </a:r>
                      <a:endParaRPr lang="es-ES" sz="1800" dirty="0"/>
                    </a:p>
                  </a:txBody>
                  <a:tcPr marL="91442" marR="91442" marT="45745" marB="4574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38" name="CuadroTexto 1">
            <a:extLst>
              <a:ext uri="{FF2B5EF4-FFF2-40B4-BE49-F238E27FC236}">
                <a16:creationId xmlns:a16="http://schemas.microsoft.com/office/drawing/2014/main" id="{C589387E-74B8-4721-BDA7-22339DAC5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1A34DA35-6CC6-4F09-B5F9-8A294F08B8D4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2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DD1BDAA-C399-4C27-A358-34CD62C886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9750" y="2133600"/>
            <a:ext cx="8077200" cy="1008063"/>
          </a:xfrm>
        </p:spPr>
        <p:txBody>
          <a:bodyPr/>
          <a:lstStyle/>
          <a:p>
            <a:pPr eaLnBrk="1" hangingPunct="1"/>
            <a:r>
              <a:rPr lang="es-ES_tradnl" altLang="es-ES" sz="3200" b="1" dirty="0" smtClean="0">
                <a:solidFill>
                  <a:schemeClr val="accent2"/>
                </a:solidFill>
                <a:cs typeface="Times New Roman" panose="02020603050405020304" pitchFamily="18" charset="0"/>
              </a:rPr>
              <a:t>Título</a:t>
            </a:r>
            <a:endParaRPr lang="es-ES" altLang="es-ES" sz="2600" b="1" dirty="0">
              <a:solidFill>
                <a:schemeClr val="accent2"/>
              </a:solidFill>
            </a:endParaRPr>
          </a:p>
        </p:txBody>
      </p:sp>
      <p:sp>
        <p:nvSpPr>
          <p:cNvPr id="12291" name="Rectangle 4">
            <a:extLst>
              <a:ext uri="{FF2B5EF4-FFF2-40B4-BE49-F238E27FC236}">
                <a16:creationId xmlns:a16="http://schemas.microsoft.com/office/drawing/2014/main" id="{6FF29FCF-7AD8-4440-9E55-B6F642F66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581525"/>
            <a:ext cx="6400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s-ES_tradnl" altLang="es-ES" dirty="0" smtClean="0">
                <a:solidFill>
                  <a:schemeClr val="accent2"/>
                </a:solidFill>
              </a:rPr>
              <a:t>Nombre y apellidos</a:t>
            </a:r>
            <a:endParaRPr lang="es-ES" altLang="es-ES" dirty="0">
              <a:solidFill>
                <a:schemeClr val="accent2"/>
              </a:solidFill>
            </a:endParaRPr>
          </a:p>
        </p:txBody>
      </p:sp>
      <p:sp>
        <p:nvSpPr>
          <p:cNvPr id="12292" name="Rectangle 7">
            <a:extLst>
              <a:ext uri="{FF2B5EF4-FFF2-40B4-BE49-F238E27FC236}">
                <a16:creationId xmlns:a16="http://schemas.microsoft.com/office/drawing/2014/main" id="{63E4379E-013C-4DB1-AF67-55F00D852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302250"/>
            <a:ext cx="6400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s-ES_tradnl" altLang="es-ES" dirty="0" smtClean="0">
                <a:solidFill>
                  <a:schemeClr val="accent2"/>
                </a:solidFill>
              </a:rPr>
              <a:t>Fecha</a:t>
            </a:r>
            <a:endParaRPr lang="es-ES" altLang="es-ES" dirty="0">
              <a:solidFill>
                <a:schemeClr val="accent2"/>
              </a:solidFill>
            </a:endParaRPr>
          </a:p>
        </p:txBody>
      </p:sp>
      <p:sp>
        <p:nvSpPr>
          <p:cNvPr id="12293" name="Rectangle 8">
            <a:extLst>
              <a:ext uri="{FF2B5EF4-FFF2-40B4-BE49-F238E27FC236}">
                <a16:creationId xmlns:a16="http://schemas.microsoft.com/office/drawing/2014/main" id="{BEA58B8C-4D30-4882-B932-EDE1A2833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924175"/>
            <a:ext cx="8077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s-ES_tradnl" altLang="es-ES" sz="2400" b="0" dirty="0" smtClean="0">
                <a:solidFill>
                  <a:schemeClr val="accent2"/>
                </a:solidFill>
              </a:rPr>
              <a:t>Imagen </a:t>
            </a:r>
            <a:r>
              <a:rPr lang="es-ES_tradnl" altLang="es-ES" sz="2400" b="0" dirty="0">
                <a:solidFill>
                  <a:schemeClr val="accent2"/>
                </a:solidFill>
              </a:rPr>
              <a:t>del edificio</a:t>
            </a:r>
            <a:endParaRPr lang="es-ES" altLang="es-ES" sz="2400" b="0" dirty="0">
              <a:solidFill>
                <a:schemeClr val="accent2"/>
              </a:solidFill>
            </a:endParaRPr>
          </a:p>
        </p:txBody>
      </p:sp>
      <p:sp>
        <p:nvSpPr>
          <p:cNvPr id="12294" name="Rectangle 4">
            <a:extLst>
              <a:ext uri="{FF2B5EF4-FFF2-40B4-BE49-F238E27FC236}">
                <a16:creationId xmlns:a16="http://schemas.microsoft.com/office/drawing/2014/main" id="{49A882AD-C2F8-451E-8C5D-EDD8803DE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3981" y="1331469"/>
            <a:ext cx="64087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s-ES_tradnl" altLang="es-ES" dirty="0">
                <a:solidFill>
                  <a:srgbClr val="0070C0"/>
                </a:solidFill>
              </a:rPr>
              <a:t>Módulo </a:t>
            </a:r>
            <a:r>
              <a:rPr lang="es-ES_tradnl" altLang="es-ES" dirty="0" smtClean="0">
                <a:solidFill>
                  <a:srgbClr val="0070C0"/>
                </a:solidFill>
              </a:rPr>
              <a:t>6. </a:t>
            </a:r>
            <a:r>
              <a:rPr lang="es-ES_tradnl" altLang="es-ES" dirty="0">
                <a:solidFill>
                  <a:srgbClr val="0070C0"/>
                </a:solidFill>
              </a:rPr>
              <a:t>Autoconsumo fotovoltaico</a:t>
            </a:r>
            <a:endParaRPr lang="es-ES" altLang="es-ES" dirty="0">
              <a:solidFill>
                <a:srgbClr val="0070C0"/>
              </a:solidFill>
            </a:endParaRPr>
          </a:p>
        </p:txBody>
      </p:sp>
      <p:pic>
        <p:nvPicPr>
          <p:cNvPr id="12295" name="6 Imagen" descr="logo-master-png fondo tte.png">
            <a:extLst>
              <a:ext uri="{FF2B5EF4-FFF2-40B4-BE49-F238E27FC236}">
                <a16:creationId xmlns:a16="http://schemas.microsoft.com/office/drawing/2014/main" id="{CA0299BE-B5F3-42C1-BC39-0BFABA26C4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188913"/>
            <a:ext cx="1152525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7 Imagen" descr="logo normalizado campus excei.jpg">
            <a:extLst>
              <a:ext uri="{FF2B5EF4-FFF2-40B4-BE49-F238E27FC236}">
                <a16:creationId xmlns:a16="http://schemas.microsoft.com/office/drawing/2014/main" id="{0FE074E7-ABFA-4A92-834F-6BE38D9648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21" b="20621"/>
          <a:stretch>
            <a:fillRect/>
          </a:stretch>
        </p:blipFill>
        <p:spPr bwMode="auto">
          <a:xfrm>
            <a:off x="179388" y="188913"/>
            <a:ext cx="14605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2659CDE7-631E-4490-AC71-4FE834B5E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8143875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s-ES_tradnl" sz="1800" kern="0" dirty="0">
                <a:solidFill>
                  <a:srgbClr val="FF9900"/>
                </a:solidFill>
                <a:latin typeface="+mj-lt"/>
                <a:ea typeface="+mj-ea"/>
              </a:rPr>
              <a:t>Máster en Energías Renovables y Medio Ambiente</a:t>
            </a:r>
            <a:endParaRPr lang="es-ES" sz="1800" kern="0" dirty="0">
              <a:solidFill>
                <a:srgbClr val="FF9900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298" name="9 Grupo">
            <a:extLst>
              <a:ext uri="{FF2B5EF4-FFF2-40B4-BE49-F238E27FC236}">
                <a16:creationId xmlns:a16="http://schemas.microsoft.com/office/drawing/2014/main" id="{0FF4C5C3-0B00-4F68-BACE-BF42F3EEFE1B}"/>
              </a:ext>
            </a:extLst>
          </p:cNvPr>
          <p:cNvGrpSpPr>
            <a:grpSpLocks/>
          </p:cNvGrpSpPr>
          <p:nvPr/>
        </p:nvGrpSpPr>
        <p:grpSpPr bwMode="auto">
          <a:xfrm>
            <a:off x="0" y="2997200"/>
            <a:ext cx="720725" cy="792163"/>
            <a:chOff x="755576" y="2204864"/>
            <a:chExt cx="720080" cy="792088"/>
          </a:xfrm>
        </p:grpSpPr>
        <p:sp>
          <p:nvSpPr>
            <p:cNvPr id="12300" name="10 Elipse">
              <a:extLst>
                <a:ext uri="{FF2B5EF4-FFF2-40B4-BE49-F238E27FC236}">
                  <a16:creationId xmlns:a16="http://schemas.microsoft.com/office/drawing/2014/main" id="{E24486C6-E773-4288-A8EC-66F03FBD0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12301" name="11 Flecha derecha">
              <a:extLst>
                <a:ext uri="{FF2B5EF4-FFF2-40B4-BE49-F238E27FC236}">
                  <a16:creationId xmlns:a16="http://schemas.microsoft.com/office/drawing/2014/main" id="{AA5D6AD1-3D29-4D79-9E3A-BD9B1AEF7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12299" name="CuadroTexto 12">
            <a:extLst>
              <a:ext uri="{FF2B5EF4-FFF2-40B4-BE49-F238E27FC236}">
                <a16:creationId xmlns:a16="http://schemas.microsoft.com/office/drawing/2014/main" id="{ADD76694-6830-46EE-9D47-1D1CD6D30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AED978E6-DFF8-4740-BC85-9D39CF5DBC33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3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6">
            <a:extLst>
              <a:ext uri="{FF2B5EF4-FFF2-40B4-BE49-F238E27FC236}">
                <a16:creationId xmlns:a16="http://schemas.microsoft.com/office/drawing/2014/main" id="{9D543538-D5C9-4CA5-B98B-1CE1CE4F3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34975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s-ES" altLang="es-ES"/>
          </a:p>
        </p:txBody>
      </p:sp>
      <p:grpSp>
        <p:nvGrpSpPr>
          <p:cNvPr id="9220" name="19 Grupo">
            <a:extLst>
              <a:ext uri="{FF2B5EF4-FFF2-40B4-BE49-F238E27FC236}">
                <a16:creationId xmlns:a16="http://schemas.microsoft.com/office/drawing/2014/main" id="{08904A28-7418-41D8-8C37-F368887081E5}"/>
              </a:ext>
            </a:extLst>
          </p:cNvPr>
          <p:cNvGrpSpPr>
            <a:grpSpLocks/>
          </p:cNvGrpSpPr>
          <p:nvPr/>
        </p:nvGrpSpPr>
        <p:grpSpPr bwMode="auto">
          <a:xfrm>
            <a:off x="1799431" y="722175"/>
            <a:ext cx="936625" cy="1570038"/>
            <a:chOff x="395536" y="908720"/>
            <a:chExt cx="936104" cy="1569660"/>
          </a:xfrm>
        </p:grpSpPr>
        <p:sp>
          <p:nvSpPr>
            <p:cNvPr id="9241" name="20 Rectángulo">
              <a:extLst>
                <a:ext uri="{FF2B5EF4-FFF2-40B4-BE49-F238E27FC236}">
                  <a16:creationId xmlns:a16="http://schemas.microsoft.com/office/drawing/2014/main" id="{9BBAAC47-2522-4FE9-8EB2-8F0B24B55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9242" name="21 Elipse">
              <a:extLst>
                <a:ext uri="{FF2B5EF4-FFF2-40B4-BE49-F238E27FC236}">
                  <a16:creationId xmlns:a16="http://schemas.microsoft.com/office/drawing/2014/main" id="{26009284-3A29-451C-9D2C-3521D6A4F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33" name="32 Tabla">
            <a:extLst>
              <a:ext uri="{FF2B5EF4-FFF2-40B4-BE49-F238E27FC236}">
                <a16:creationId xmlns:a16="http://schemas.microsoft.com/office/drawing/2014/main" id="{22AFAE0F-085B-4A09-9803-DEA7841D7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73370"/>
              </p:ext>
            </p:extLst>
          </p:nvPr>
        </p:nvGraphicFramePr>
        <p:xfrm>
          <a:off x="1799431" y="938075"/>
          <a:ext cx="5545138" cy="936625"/>
        </p:xfrm>
        <a:graphic>
          <a:graphicData uri="http://schemas.openxmlformats.org/drawingml/2006/table">
            <a:tbl>
              <a:tblPr/>
              <a:tblGrid>
                <a:gridCol w="1008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endParaRPr lang="es-ES" sz="1800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i="1" dirty="0">
                          <a:solidFill>
                            <a:schemeClr val="tx1"/>
                          </a:solidFill>
                        </a:rPr>
                        <a:t>Deben referenciarse adecuadamente todas las figuras, tablas, datos, etc. que se incluyan en esta presentación </a:t>
                      </a:r>
                      <a:endParaRPr lang="es-ES" sz="1800" b="1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38" name="CuadroTexto 1">
            <a:extLst>
              <a:ext uri="{FF2B5EF4-FFF2-40B4-BE49-F238E27FC236}">
                <a16:creationId xmlns:a16="http://schemas.microsoft.com/office/drawing/2014/main" id="{C589387E-74B8-4721-BDA7-22339DAC5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1A34DA35-6CC6-4F09-B5F9-8A294F08B8D4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4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grpSp>
        <p:nvGrpSpPr>
          <p:cNvPr id="15" name="19 Grupo">
            <a:extLst>
              <a:ext uri="{FF2B5EF4-FFF2-40B4-BE49-F238E27FC236}">
                <a16:creationId xmlns:a16="http://schemas.microsoft.com/office/drawing/2014/main" id="{A1A344DE-C561-42B0-BB83-D7B58C6304C6}"/>
              </a:ext>
            </a:extLst>
          </p:cNvPr>
          <p:cNvGrpSpPr>
            <a:grpSpLocks/>
          </p:cNvGrpSpPr>
          <p:nvPr/>
        </p:nvGrpSpPr>
        <p:grpSpPr bwMode="auto">
          <a:xfrm>
            <a:off x="1799431" y="2206587"/>
            <a:ext cx="936625" cy="1570038"/>
            <a:chOff x="395536" y="908720"/>
            <a:chExt cx="936104" cy="1569660"/>
          </a:xfrm>
        </p:grpSpPr>
        <p:sp>
          <p:nvSpPr>
            <p:cNvPr id="16" name="20 Rectángulo">
              <a:extLst>
                <a:ext uri="{FF2B5EF4-FFF2-40B4-BE49-F238E27FC236}">
                  <a16:creationId xmlns:a16="http://schemas.microsoft.com/office/drawing/2014/main" id="{522BE935-0F5A-4090-9222-4E823689A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17" name="21 Elipse">
              <a:extLst>
                <a:ext uri="{FF2B5EF4-FFF2-40B4-BE49-F238E27FC236}">
                  <a16:creationId xmlns:a16="http://schemas.microsoft.com/office/drawing/2014/main" id="{813A5A77-D0CA-45DB-A697-A1367B5E0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18" name="32 Tabla">
            <a:extLst>
              <a:ext uri="{FF2B5EF4-FFF2-40B4-BE49-F238E27FC236}">
                <a16:creationId xmlns:a16="http://schemas.microsoft.com/office/drawing/2014/main" id="{ED7322CE-C182-4D2C-A5C7-8548EB5B7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344812"/>
              </p:ext>
            </p:extLst>
          </p:nvPr>
        </p:nvGraphicFramePr>
        <p:xfrm>
          <a:off x="1799431" y="2422487"/>
          <a:ext cx="5545138" cy="936625"/>
        </p:xfrm>
        <a:graphic>
          <a:graphicData uri="http://schemas.openxmlformats.org/drawingml/2006/table">
            <a:tbl>
              <a:tblPr/>
              <a:tblGrid>
                <a:gridCol w="1008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endParaRPr lang="es-ES" sz="1800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1" dirty="0">
                          <a:solidFill>
                            <a:schemeClr val="tx1"/>
                          </a:solidFill>
                        </a:rPr>
                        <a:t>Adaptar la presentación a preferencias editando todo lo que sea necesario</a:t>
                      </a:r>
                      <a:endParaRPr lang="es-ES" sz="1800" b="0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9" name="19 Grupo">
            <a:extLst>
              <a:ext uri="{FF2B5EF4-FFF2-40B4-BE49-F238E27FC236}">
                <a16:creationId xmlns:a16="http://schemas.microsoft.com/office/drawing/2014/main" id="{34FDB5E6-07BD-4DAC-9724-2FF02BA1CF1C}"/>
              </a:ext>
            </a:extLst>
          </p:cNvPr>
          <p:cNvGrpSpPr>
            <a:grpSpLocks/>
          </p:cNvGrpSpPr>
          <p:nvPr/>
        </p:nvGrpSpPr>
        <p:grpSpPr bwMode="auto">
          <a:xfrm>
            <a:off x="1797092" y="3846649"/>
            <a:ext cx="936625" cy="1570038"/>
            <a:chOff x="395536" y="908720"/>
            <a:chExt cx="936104" cy="1569660"/>
          </a:xfrm>
        </p:grpSpPr>
        <p:sp>
          <p:nvSpPr>
            <p:cNvPr id="20" name="20 Rectángulo">
              <a:extLst>
                <a:ext uri="{FF2B5EF4-FFF2-40B4-BE49-F238E27FC236}">
                  <a16:creationId xmlns:a16="http://schemas.microsoft.com/office/drawing/2014/main" id="{AAFCA636-C5A6-49EE-AFFD-9FBB4C9F7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21" name="21 Elipse">
              <a:extLst>
                <a:ext uri="{FF2B5EF4-FFF2-40B4-BE49-F238E27FC236}">
                  <a16:creationId xmlns:a16="http://schemas.microsoft.com/office/drawing/2014/main" id="{97A8786B-6629-4F54-BE4B-B1363EF9E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22" name="32 Tabla">
            <a:extLst>
              <a:ext uri="{FF2B5EF4-FFF2-40B4-BE49-F238E27FC236}">
                <a16:creationId xmlns:a16="http://schemas.microsoft.com/office/drawing/2014/main" id="{F726A299-9DA8-41F3-BD35-099D0B958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678148"/>
              </p:ext>
            </p:extLst>
          </p:nvPr>
        </p:nvGraphicFramePr>
        <p:xfrm>
          <a:off x="1797092" y="4062549"/>
          <a:ext cx="5545138" cy="936625"/>
        </p:xfrm>
        <a:graphic>
          <a:graphicData uri="http://schemas.openxmlformats.org/drawingml/2006/table">
            <a:tbl>
              <a:tblPr/>
              <a:tblGrid>
                <a:gridCol w="1008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endParaRPr lang="es-ES" sz="1800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1" dirty="0">
                          <a:solidFill>
                            <a:schemeClr val="tx1"/>
                          </a:solidFill>
                        </a:rPr>
                        <a:t>Completar la presentación con los contenidos y criterios adquiridos en las ponencias</a:t>
                      </a:r>
                      <a:endParaRPr lang="es-ES" sz="1800" b="0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3" name="19 Grupo">
            <a:extLst>
              <a:ext uri="{FF2B5EF4-FFF2-40B4-BE49-F238E27FC236}">
                <a16:creationId xmlns:a16="http://schemas.microsoft.com/office/drawing/2014/main" id="{0621FC55-0FFB-4858-A590-C1A07AD6A430}"/>
              </a:ext>
            </a:extLst>
          </p:cNvPr>
          <p:cNvGrpSpPr>
            <a:grpSpLocks/>
          </p:cNvGrpSpPr>
          <p:nvPr/>
        </p:nvGrpSpPr>
        <p:grpSpPr bwMode="auto">
          <a:xfrm>
            <a:off x="1799431" y="5451612"/>
            <a:ext cx="936625" cy="1570038"/>
            <a:chOff x="395536" y="908720"/>
            <a:chExt cx="936104" cy="1569660"/>
          </a:xfrm>
        </p:grpSpPr>
        <p:sp>
          <p:nvSpPr>
            <p:cNvPr id="24" name="20 Rectángulo">
              <a:extLst>
                <a:ext uri="{FF2B5EF4-FFF2-40B4-BE49-F238E27FC236}">
                  <a16:creationId xmlns:a16="http://schemas.microsoft.com/office/drawing/2014/main" id="{6DE60292-C7CF-4BA5-9E0B-8AE151196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25" name="21 Elipse">
              <a:extLst>
                <a:ext uri="{FF2B5EF4-FFF2-40B4-BE49-F238E27FC236}">
                  <a16:creationId xmlns:a16="http://schemas.microsoft.com/office/drawing/2014/main" id="{03C7965D-B655-4485-A66C-C610594F8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26" name="32 Tabla">
            <a:extLst>
              <a:ext uri="{FF2B5EF4-FFF2-40B4-BE49-F238E27FC236}">
                <a16:creationId xmlns:a16="http://schemas.microsoft.com/office/drawing/2014/main" id="{AFA1818A-AF49-4BE2-AFC6-C0D6F37E0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671574"/>
              </p:ext>
            </p:extLst>
          </p:nvPr>
        </p:nvGraphicFramePr>
        <p:xfrm>
          <a:off x="1799431" y="5667512"/>
          <a:ext cx="5545138" cy="936625"/>
        </p:xfrm>
        <a:graphic>
          <a:graphicData uri="http://schemas.openxmlformats.org/drawingml/2006/table">
            <a:tbl>
              <a:tblPr/>
              <a:tblGrid>
                <a:gridCol w="1008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endParaRPr lang="es-ES" sz="1800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1" dirty="0">
                          <a:solidFill>
                            <a:schemeClr val="tx1"/>
                          </a:solidFill>
                        </a:rPr>
                        <a:t>Eliminar diapositivas no utilizadas.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1" dirty="0">
                          <a:solidFill>
                            <a:schemeClr val="tx1"/>
                          </a:solidFill>
                        </a:rPr>
                        <a:t>Revisar animación.</a:t>
                      </a:r>
                      <a:endParaRPr lang="es-ES" sz="1800" b="0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4 Rectángulo">
            <a:extLst>
              <a:ext uri="{FF2B5EF4-FFF2-40B4-BE49-F238E27FC236}">
                <a16:creationId xmlns:a16="http://schemas.microsoft.com/office/drawing/2014/main" id="{64A2AE86-7490-433D-B6FA-E695540FF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5888" y="188913"/>
            <a:ext cx="2836033" cy="450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i="1" dirty="0">
                <a:solidFill>
                  <a:schemeClr val="tx1"/>
                </a:solidFill>
              </a:rPr>
              <a:t>Cuestiones generales</a:t>
            </a:r>
            <a:endParaRPr lang="es-ES" altLang="es-ES" sz="18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93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4 Rectángulo">
            <a:extLst>
              <a:ext uri="{FF2B5EF4-FFF2-40B4-BE49-F238E27FC236}">
                <a16:creationId xmlns:a16="http://schemas.microsoft.com/office/drawing/2014/main" id="{8B26156F-8B54-472F-AAA1-64B4B8819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0"/>
            <a:ext cx="43878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u="none">
                <a:solidFill>
                  <a:schemeClr val="tx1"/>
                </a:solidFill>
              </a:rPr>
              <a:t>Fases de elaboración del proyecto</a:t>
            </a:r>
            <a:endParaRPr lang="es-ES" altLang="es-ES" sz="1800" u="none">
              <a:solidFill>
                <a:schemeClr val="tx1"/>
              </a:solidFill>
            </a:endParaRPr>
          </a:p>
        </p:txBody>
      </p:sp>
      <p:sp>
        <p:nvSpPr>
          <p:cNvPr id="525316" name="Rectangle 4">
            <a:extLst>
              <a:ext uri="{FF2B5EF4-FFF2-40B4-BE49-F238E27FC236}">
                <a16:creationId xmlns:a16="http://schemas.microsoft.com/office/drawing/2014/main" id="{F986A93E-30BB-424B-A917-4435B4DAF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830" y="1075912"/>
            <a:ext cx="8353425" cy="5003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180975" indent="-180975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s-ES" altLang="es-ES" sz="1800" b="0" i="1" dirty="0">
                <a:solidFill>
                  <a:schemeClr val="tx1"/>
                </a:solidFill>
              </a:rPr>
              <a:t>Normativa</a:t>
            </a:r>
          </a:p>
          <a:p>
            <a:pPr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s-ES" altLang="es-ES" sz="1800" b="0" i="1" dirty="0">
                <a:solidFill>
                  <a:schemeClr val="tx1"/>
                </a:solidFill>
              </a:rPr>
              <a:t>Bases de datos de radiación solar y de clima disponibles </a:t>
            </a:r>
          </a:p>
          <a:p>
            <a:pPr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s-ES" altLang="es-ES" sz="1800" b="0" i="1" dirty="0" smtClean="0">
                <a:solidFill>
                  <a:schemeClr val="tx1"/>
                </a:solidFill>
              </a:rPr>
              <a:t>Ubicación </a:t>
            </a:r>
            <a:r>
              <a:rPr lang="es-ES" altLang="es-ES" sz="1800" b="0" i="1" dirty="0">
                <a:solidFill>
                  <a:schemeClr val="tx1"/>
                </a:solidFill>
              </a:rPr>
              <a:t>del edificio</a:t>
            </a:r>
          </a:p>
          <a:p>
            <a:pPr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s-ES" altLang="es-ES" sz="1800" b="0" i="1" dirty="0">
                <a:solidFill>
                  <a:schemeClr val="tx1"/>
                </a:solidFill>
              </a:rPr>
              <a:t>Descripción general del edificio y su entorno</a:t>
            </a:r>
          </a:p>
          <a:p>
            <a:pPr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s-ES" altLang="es-ES" sz="1800" b="0" i="1" dirty="0">
                <a:solidFill>
                  <a:schemeClr val="tx1"/>
                </a:solidFill>
              </a:rPr>
              <a:t>Identificación y características de superficies disponibles</a:t>
            </a:r>
          </a:p>
          <a:p>
            <a:pPr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s-ES" altLang="es-ES" sz="1800" b="0" i="1" dirty="0">
                <a:solidFill>
                  <a:schemeClr val="tx1"/>
                </a:solidFill>
              </a:rPr>
              <a:t>Instalación eléctrica del edificio: cuadro general de mando y protección y punto de medida de la energía eléctrica consumida</a:t>
            </a:r>
          </a:p>
          <a:p>
            <a:pPr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s-ES" altLang="es-ES" sz="1800" b="0" i="1" dirty="0" smtClean="0">
                <a:solidFill>
                  <a:schemeClr val="tx1"/>
                </a:solidFill>
              </a:rPr>
              <a:t>Consumo eléctrico horario para al menos un año</a:t>
            </a:r>
            <a:endParaRPr lang="es-ES" altLang="es-ES" sz="1800" b="0" i="1" dirty="0">
              <a:solidFill>
                <a:schemeClr val="tx1"/>
              </a:solidFill>
            </a:endParaRPr>
          </a:p>
          <a:p>
            <a:pPr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altLang="es-ES" sz="1800" b="0" i="1" dirty="0">
                <a:solidFill>
                  <a:schemeClr val="tx1"/>
                </a:solidFill>
              </a:rPr>
              <a:t>Tarifa eléctrica</a:t>
            </a:r>
          </a:p>
          <a:p>
            <a:pPr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altLang="es-ES" sz="1800" b="0" i="1" dirty="0">
                <a:solidFill>
                  <a:schemeClr val="tx1"/>
                </a:solidFill>
              </a:rPr>
              <a:t>Capacidad de </a:t>
            </a:r>
            <a:r>
              <a:rPr lang="es-ES" altLang="es-ES" sz="1800" b="0" i="1" dirty="0" smtClean="0">
                <a:solidFill>
                  <a:schemeClr val="tx1"/>
                </a:solidFill>
              </a:rPr>
              <a:t>inversión</a:t>
            </a:r>
          </a:p>
          <a:p>
            <a:pPr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altLang="es-ES" sz="1800" b="0" i="1" dirty="0" smtClean="0">
                <a:solidFill>
                  <a:schemeClr val="tx1"/>
                </a:solidFill>
              </a:rPr>
              <a:t>etc. </a:t>
            </a:r>
            <a:endParaRPr lang="es-ES" altLang="es-ES" sz="1800" b="0" i="1" dirty="0">
              <a:solidFill>
                <a:schemeClr val="tx1"/>
              </a:solidFill>
            </a:endParaRPr>
          </a:p>
        </p:txBody>
      </p:sp>
      <p:sp>
        <p:nvSpPr>
          <p:cNvPr id="10245" name="11 Rectángulo">
            <a:extLst>
              <a:ext uri="{FF2B5EF4-FFF2-40B4-BE49-F238E27FC236}">
                <a16:creationId xmlns:a16="http://schemas.microsoft.com/office/drawing/2014/main" id="{C9B7F6CA-76B8-4EDA-8F50-4E2C7EEA6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587" y="610181"/>
            <a:ext cx="2601913" cy="414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 b="0" u="none" dirty="0">
                <a:solidFill>
                  <a:schemeClr val="tx1"/>
                </a:solidFill>
              </a:rPr>
              <a:t>DATOS DE PARTIDA</a:t>
            </a:r>
            <a:endParaRPr lang="es-ES" altLang="es-ES" sz="1800" b="0" u="none" dirty="0">
              <a:solidFill>
                <a:schemeClr val="tx1"/>
              </a:solidFill>
            </a:endParaRPr>
          </a:p>
        </p:txBody>
      </p:sp>
      <p:sp>
        <p:nvSpPr>
          <p:cNvPr id="10248" name="CuadroTexto 9">
            <a:extLst>
              <a:ext uri="{FF2B5EF4-FFF2-40B4-BE49-F238E27FC236}">
                <a16:creationId xmlns:a16="http://schemas.microsoft.com/office/drawing/2014/main" id="{C6EAA12D-3711-4A75-B55A-9DFC3EA4B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78E27D45-5944-4482-ADC5-2862C6640A4F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5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grpSp>
        <p:nvGrpSpPr>
          <p:cNvPr id="6" name="8 Grupo">
            <a:extLst>
              <a:ext uri="{FF2B5EF4-FFF2-40B4-BE49-F238E27FC236}">
                <a16:creationId xmlns:a16="http://schemas.microsoft.com/office/drawing/2014/main" id="{DAAD4847-DFEE-4EF2-B37A-16EB342DB921}"/>
              </a:ext>
            </a:extLst>
          </p:cNvPr>
          <p:cNvGrpSpPr>
            <a:grpSpLocks/>
          </p:cNvGrpSpPr>
          <p:nvPr/>
        </p:nvGrpSpPr>
        <p:grpSpPr bwMode="auto">
          <a:xfrm>
            <a:off x="-107950" y="-242888"/>
            <a:ext cx="935038" cy="1568451"/>
            <a:chOff x="395536" y="908720"/>
            <a:chExt cx="936104" cy="1569660"/>
          </a:xfrm>
        </p:grpSpPr>
        <p:sp>
          <p:nvSpPr>
            <p:cNvPr id="7" name="5 Rectángulo">
              <a:extLst>
                <a:ext uri="{FF2B5EF4-FFF2-40B4-BE49-F238E27FC236}">
                  <a16:creationId xmlns:a16="http://schemas.microsoft.com/office/drawing/2014/main" id="{ACF1B355-3BC1-4173-B4CE-7501FB774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8" name="6 Elipse">
              <a:extLst>
                <a:ext uri="{FF2B5EF4-FFF2-40B4-BE49-F238E27FC236}">
                  <a16:creationId xmlns:a16="http://schemas.microsoft.com/office/drawing/2014/main" id="{8F3DB44F-3995-40F6-B44F-8DDBF61A0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1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835C102A-0E09-4389-8481-656B7B5C5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836613"/>
            <a:ext cx="72771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>
                <a:solidFill>
                  <a:schemeClr val="accent2"/>
                </a:solidFill>
              </a:rPr>
              <a:t>Plano de situación</a:t>
            </a:r>
            <a:endParaRPr lang="es-ES" altLang="es-ES" sz="1800">
              <a:solidFill>
                <a:schemeClr val="accent2"/>
              </a:solidFill>
            </a:endParaRPr>
          </a:p>
        </p:txBody>
      </p:sp>
      <p:sp>
        <p:nvSpPr>
          <p:cNvPr id="13315" name="Text Box 4">
            <a:extLst>
              <a:ext uri="{FF2B5EF4-FFF2-40B4-BE49-F238E27FC236}">
                <a16:creationId xmlns:a16="http://schemas.microsoft.com/office/drawing/2014/main" id="{841CBE78-2D84-4B38-B281-36F552182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146800"/>
            <a:ext cx="8964612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600" b="0" i="1">
                <a:solidFill>
                  <a:schemeClr val="tx1"/>
                </a:solidFill>
              </a:rPr>
              <a:t>* Estas vistas espaciales permiten determinar la orientación de tejados, terrenos, parcelas, etc. </a:t>
            </a:r>
          </a:p>
        </p:txBody>
      </p:sp>
      <p:sp>
        <p:nvSpPr>
          <p:cNvPr id="13316" name="Rectangle 7">
            <a:extLst>
              <a:ext uri="{FF2B5EF4-FFF2-40B4-BE49-F238E27FC236}">
                <a16:creationId xmlns:a16="http://schemas.microsoft.com/office/drawing/2014/main" id="{6D06D1F5-EDDA-4BD5-8C1F-25D2D61E3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263" y="4509120"/>
            <a:ext cx="6400800" cy="84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600"/>
              </a:spcBef>
              <a:spcAft>
                <a:spcPts val="600"/>
              </a:spcAft>
            </a:pPr>
            <a:r>
              <a:rPr lang="es-ES_tradnl" altLang="es-ES" sz="1600" dirty="0">
                <a:solidFill>
                  <a:schemeClr val="accent2"/>
                </a:solidFill>
              </a:rPr>
              <a:t>Localidad: ………………..</a:t>
            </a:r>
          </a:p>
          <a:p>
            <a:pPr algn="ctr" eaLnBrk="1" hangingPunct="1">
              <a:spcBef>
                <a:spcPts val="600"/>
              </a:spcBef>
              <a:spcAft>
                <a:spcPts val="600"/>
              </a:spcAft>
            </a:pPr>
            <a:r>
              <a:rPr lang="es-ES_tradnl" altLang="es-ES" sz="1600" dirty="0">
                <a:solidFill>
                  <a:schemeClr val="accent2"/>
                </a:solidFill>
              </a:rPr>
              <a:t>Latitud: ……………… Longitud: ……………..</a:t>
            </a:r>
            <a:endParaRPr lang="es-ES" altLang="es-ES" sz="1600" dirty="0">
              <a:solidFill>
                <a:schemeClr val="accent2"/>
              </a:solidFill>
            </a:endParaRPr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0AFE3782-8EE4-43BB-96B2-28D83A23D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412875"/>
            <a:ext cx="7277100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b="0" i="1" dirty="0">
                <a:solidFill>
                  <a:schemeClr val="tx1"/>
                </a:solidFill>
              </a:rPr>
              <a:t>Para el España se pueden encontrar vistas*, planos, etc. en:</a:t>
            </a:r>
          </a:p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 i="1" dirty="0">
                <a:solidFill>
                  <a:schemeClr val="tx1"/>
                </a:solidFill>
              </a:rPr>
              <a:t>Para edificios</a:t>
            </a:r>
            <a:r>
              <a:rPr lang="es-ES_tradnl" altLang="es-ES" sz="1800" i="1" dirty="0" smtClean="0">
                <a:solidFill>
                  <a:schemeClr val="tx1"/>
                </a:solidFill>
              </a:rPr>
              <a:t>: </a:t>
            </a:r>
            <a:r>
              <a:rPr lang="es-ES" altLang="es-ES" dirty="0" smtClean="0">
                <a:solidFill>
                  <a:schemeClr val="tx1"/>
                </a:solidFill>
                <a:hlinkClick r:id="rId2"/>
              </a:rPr>
              <a:t>http</a:t>
            </a:r>
            <a:r>
              <a:rPr lang="es-ES" altLang="es-ES" dirty="0">
                <a:solidFill>
                  <a:schemeClr val="tx1"/>
                </a:solidFill>
                <a:hlinkClick r:id="rId2"/>
              </a:rPr>
              <a:t>://www.sedecatastro.gob.es</a:t>
            </a:r>
            <a:endParaRPr lang="es-ES" altLang="es-ES" dirty="0">
              <a:solidFill>
                <a:schemeClr val="tx1"/>
              </a:solidFill>
            </a:endParaRPr>
          </a:p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" altLang="es-ES" sz="1800" i="1" dirty="0" smtClean="0">
                <a:solidFill>
                  <a:schemeClr val="tx1"/>
                </a:solidFill>
              </a:rPr>
              <a:t>Para </a:t>
            </a:r>
            <a:r>
              <a:rPr lang="es-ES" altLang="es-ES" sz="1800" i="1" dirty="0">
                <a:solidFill>
                  <a:schemeClr val="tx1"/>
                </a:solidFill>
              </a:rPr>
              <a:t>parcelas: </a:t>
            </a:r>
            <a:r>
              <a:rPr lang="es-ES" altLang="es-ES" dirty="0">
                <a:solidFill>
                  <a:schemeClr val="tx1"/>
                </a:solidFill>
                <a:hlinkClick r:id="rId3"/>
              </a:rPr>
              <a:t>http://sigpac.mapa.es/fega/visor</a:t>
            </a:r>
            <a:r>
              <a:rPr lang="es-ES" altLang="es-ES" dirty="0"/>
              <a:t> </a:t>
            </a:r>
          </a:p>
        </p:txBody>
      </p:sp>
      <p:grpSp>
        <p:nvGrpSpPr>
          <p:cNvPr id="13318" name="5 Grupo">
            <a:extLst>
              <a:ext uri="{FF2B5EF4-FFF2-40B4-BE49-F238E27FC236}">
                <a16:creationId xmlns:a16="http://schemas.microsoft.com/office/drawing/2014/main" id="{ECBFB82C-536B-4B10-A4C4-F5125A69F509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13321" name="6 Elipse">
              <a:extLst>
                <a:ext uri="{FF2B5EF4-FFF2-40B4-BE49-F238E27FC236}">
                  <a16:creationId xmlns:a16="http://schemas.microsoft.com/office/drawing/2014/main" id="{29329BE4-8BFD-47F2-9517-F8452D0C7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13322" name="7 Flecha derecha">
              <a:extLst>
                <a:ext uri="{FF2B5EF4-FFF2-40B4-BE49-F238E27FC236}">
                  <a16:creationId xmlns:a16="http://schemas.microsoft.com/office/drawing/2014/main" id="{C94E86B6-5130-4A94-8F36-5E652191E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13319" name="Text Box 2">
            <a:extLst>
              <a:ext uri="{FF2B5EF4-FFF2-40B4-BE49-F238E27FC236}">
                <a16:creationId xmlns:a16="http://schemas.microsoft.com/office/drawing/2014/main" id="{B7CEDAE1-B96F-44AA-B95A-CAC1C952C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60350"/>
            <a:ext cx="72771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i="1">
                <a:solidFill>
                  <a:schemeClr val="tx1"/>
                </a:solidFill>
              </a:rPr>
              <a:t>Datos de partida: Edificio</a:t>
            </a:r>
            <a:endParaRPr lang="es-ES" altLang="es-ES" i="1">
              <a:solidFill>
                <a:schemeClr val="tx1"/>
              </a:solidFill>
            </a:endParaRPr>
          </a:p>
        </p:txBody>
      </p:sp>
      <p:sp>
        <p:nvSpPr>
          <p:cNvPr id="13320" name="CuadroTexto 9">
            <a:extLst>
              <a:ext uri="{FF2B5EF4-FFF2-40B4-BE49-F238E27FC236}">
                <a16:creationId xmlns:a16="http://schemas.microsoft.com/office/drawing/2014/main" id="{9E24F10D-19BC-4F9E-B0A6-62F287444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F8182788-B773-4F54-838C-E52D8E6ED883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6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AC6687A4-0975-4DCE-92EB-8269DED1C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842" y="186563"/>
            <a:ext cx="72771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dirty="0">
                <a:solidFill>
                  <a:schemeClr val="accent2"/>
                </a:solidFill>
              </a:rPr>
              <a:t>Datos de partida: Normativa de aplicación</a:t>
            </a:r>
            <a:endParaRPr lang="es-ES" altLang="es-ES" sz="1800" dirty="0">
              <a:solidFill>
                <a:schemeClr val="accent2"/>
              </a:solidFill>
            </a:endParaRPr>
          </a:p>
        </p:txBody>
      </p:sp>
      <p:sp>
        <p:nvSpPr>
          <p:cNvPr id="14339" name="Rectangle 7">
            <a:extLst>
              <a:ext uri="{FF2B5EF4-FFF2-40B4-BE49-F238E27FC236}">
                <a16:creationId xmlns:a16="http://schemas.microsoft.com/office/drawing/2014/main" id="{3EFAB4BB-81F6-421C-960F-6FF693BFA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124" y="1295344"/>
            <a:ext cx="68405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7800" indent="-1778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altLang="es-ES" sz="1600" b="0" dirty="0">
                <a:solidFill>
                  <a:schemeClr val="accent2"/>
                </a:solidFill>
              </a:rPr>
              <a:t>Normativa de edificación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altLang="es-ES" sz="1600" b="0" dirty="0">
                <a:solidFill>
                  <a:schemeClr val="accent2"/>
                </a:solidFill>
              </a:rPr>
              <a:t>Normativa de seguridad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altLang="es-ES" sz="1600" b="0" dirty="0">
                <a:solidFill>
                  <a:schemeClr val="accent2"/>
                </a:solidFill>
              </a:rPr>
              <a:t>Normativa ambiental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altLang="es-ES" sz="1600" b="0" dirty="0">
                <a:solidFill>
                  <a:schemeClr val="accent2"/>
                </a:solidFill>
              </a:rPr>
              <a:t>Normativa eléctrica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altLang="es-ES" sz="1600" b="0" dirty="0" smtClean="0">
                <a:solidFill>
                  <a:schemeClr val="accent2"/>
                </a:solidFill>
              </a:rPr>
              <a:t>Normativa municipal</a:t>
            </a:r>
            <a:endParaRPr lang="es-ES" altLang="es-ES" sz="1600" b="0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altLang="es-ES" sz="1600" b="0" dirty="0">
                <a:solidFill>
                  <a:schemeClr val="accent2"/>
                </a:solidFill>
              </a:rPr>
              <a:t>Normas de la comunidad de vecinos, si es el caso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altLang="es-ES" sz="1600" b="0" dirty="0">
                <a:solidFill>
                  <a:schemeClr val="accent2"/>
                </a:solidFill>
              </a:rPr>
              <a:t>Regulación sobre energías renovables, si existe y es de aplicación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altLang="es-ES" sz="1600" b="0" dirty="0">
                <a:solidFill>
                  <a:schemeClr val="accent2"/>
                </a:solidFill>
              </a:rPr>
              <a:t>Normativas sobre autoconsumo, balance neto, etc.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altLang="es-ES" sz="1600" b="0" dirty="0">
                <a:solidFill>
                  <a:schemeClr val="accent2"/>
                </a:solidFill>
              </a:rPr>
              <a:t>Cualquier otra norma que pueda resultar de aplicación</a:t>
            </a:r>
          </a:p>
        </p:txBody>
      </p:sp>
      <p:grpSp>
        <p:nvGrpSpPr>
          <p:cNvPr id="14340" name="6 Grupo">
            <a:extLst>
              <a:ext uri="{FF2B5EF4-FFF2-40B4-BE49-F238E27FC236}">
                <a16:creationId xmlns:a16="http://schemas.microsoft.com/office/drawing/2014/main" id="{E9959370-F2B9-4D55-9FD6-487BCBA45720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5287963"/>
            <a:ext cx="935038" cy="1570037"/>
            <a:chOff x="395536" y="908720"/>
            <a:chExt cx="936104" cy="1569660"/>
          </a:xfrm>
        </p:grpSpPr>
        <p:sp>
          <p:nvSpPr>
            <p:cNvPr id="14354" name="7 Rectángulo">
              <a:extLst>
                <a:ext uri="{FF2B5EF4-FFF2-40B4-BE49-F238E27FC236}">
                  <a16:creationId xmlns:a16="http://schemas.microsoft.com/office/drawing/2014/main" id="{CB262B4E-4CF9-4944-89C5-8C24B29FE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14355" name="8 Elipse">
              <a:extLst>
                <a:ext uri="{FF2B5EF4-FFF2-40B4-BE49-F238E27FC236}">
                  <a16:creationId xmlns:a16="http://schemas.microsoft.com/office/drawing/2014/main" id="{A34E2EB9-428D-495D-9631-93C1DFBFC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10" name="9 Tabla">
            <a:extLst>
              <a:ext uri="{FF2B5EF4-FFF2-40B4-BE49-F238E27FC236}">
                <a16:creationId xmlns:a16="http://schemas.microsoft.com/office/drawing/2014/main" id="{7F4E4371-DCAA-451E-9186-DFA8CEEBB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811540"/>
              </p:ext>
            </p:extLst>
          </p:nvPr>
        </p:nvGraphicFramePr>
        <p:xfrm>
          <a:off x="1763713" y="5732735"/>
          <a:ext cx="5688012" cy="936625"/>
        </p:xfrm>
        <a:graphic>
          <a:graphicData uri="http://schemas.openxmlformats.org/drawingml/2006/table">
            <a:tbl>
              <a:tblPr/>
              <a:tblGrid>
                <a:gridCol w="1008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endParaRPr lang="es-ES" sz="1800" dirty="0"/>
                    </a:p>
                  </a:txBody>
                  <a:tcPr marL="91430" marR="91430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i="1" dirty="0">
                          <a:solidFill>
                            <a:schemeClr val="tx1"/>
                          </a:solidFill>
                        </a:rPr>
                        <a:t>Incluir</a:t>
                      </a:r>
                      <a:r>
                        <a:rPr lang="es-ES" sz="1600" b="0" i="1" baseline="0" dirty="0">
                          <a:solidFill>
                            <a:schemeClr val="tx1"/>
                          </a:solidFill>
                        </a:rPr>
                        <a:t> l</a:t>
                      </a:r>
                      <a:r>
                        <a:rPr lang="es-ES" sz="1600" b="0" i="1" dirty="0">
                          <a:solidFill>
                            <a:schemeClr val="tx1"/>
                          </a:solidFill>
                        </a:rPr>
                        <a:t>istado</a:t>
                      </a:r>
                      <a:r>
                        <a:rPr lang="es-ES" sz="1600" b="0" i="1" baseline="0" dirty="0">
                          <a:solidFill>
                            <a:schemeClr val="tx1"/>
                          </a:solidFill>
                        </a:rPr>
                        <a:t> con la </a:t>
                      </a:r>
                      <a:r>
                        <a:rPr lang="es-ES" sz="1600" b="0" i="1" baseline="0" dirty="0" smtClean="0">
                          <a:solidFill>
                            <a:schemeClr val="tx1"/>
                          </a:solidFill>
                        </a:rPr>
                        <a:t>normativa específica considerada</a:t>
                      </a:r>
                      <a:endParaRPr lang="es-ES" sz="1600" dirty="0"/>
                    </a:p>
                  </a:txBody>
                  <a:tcPr marL="91430" marR="91430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349" name="11 Grupo">
            <a:extLst>
              <a:ext uri="{FF2B5EF4-FFF2-40B4-BE49-F238E27FC236}">
                <a16:creationId xmlns:a16="http://schemas.microsoft.com/office/drawing/2014/main" id="{6D73F38C-33B0-4E28-800C-F7933E02C979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14352" name="12 Elipse">
              <a:extLst>
                <a:ext uri="{FF2B5EF4-FFF2-40B4-BE49-F238E27FC236}">
                  <a16:creationId xmlns:a16="http://schemas.microsoft.com/office/drawing/2014/main" id="{E4698C69-CD95-40B2-96D2-E5E2C8D69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14353" name="14 Flecha derecha">
              <a:extLst>
                <a:ext uri="{FF2B5EF4-FFF2-40B4-BE49-F238E27FC236}">
                  <a16:creationId xmlns:a16="http://schemas.microsoft.com/office/drawing/2014/main" id="{2DAA315A-DE5A-410F-A2A5-9A8EC4FD1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14350" name="10 Rectángulo">
            <a:extLst>
              <a:ext uri="{FF2B5EF4-FFF2-40B4-BE49-F238E27FC236}">
                <a16:creationId xmlns:a16="http://schemas.microsoft.com/office/drawing/2014/main" id="{B686ABB0-004B-45C7-94BC-0A874E00C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67" y="4696317"/>
            <a:ext cx="8353052" cy="733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tabLst>
                <a:tab pos="914400" algn="l"/>
              </a:tabLs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177800" indent="-177800">
              <a:tabLst>
                <a:tab pos="914400" algn="l"/>
              </a:tabLs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tabLst>
                <a:tab pos="914400" algn="l"/>
              </a:tabLs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tabLst>
                <a:tab pos="914400" algn="l"/>
              </a:tabLs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tabLst>
                <a:tab pos="914400" algn="l"/>
              </a:tabLs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lang="es-ES" altLang="es-ES" sz="1600" i="1" dirty="0">
                <a:solidFill>
                  <a:srgbClr val="00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Recopilación sobre normativa industrial en España:</a:t>
            </a:r>
            <a:endParaRPr lang="es-ES" altLang="es-ES" sz="1600" i="1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lang="es-ES" altLang="es-ES" sz="18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hlinkClick r:id="rId2"/>
              </a:rPr>
              <a:t>https://</a:t>
            </a:r>
            <a:r>
              <a:rPr lang="es-ES" altLang="es-ES" sz="18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hlinkClick r:id="rId2"/>
              </a:rPr>
              <a:t>industria.gob.es/Calidad-Industrial/legislaciongeneral/Paginas/index.aspx</a:t>
            </a:r>
            <a:endParaRPr lang="es-ES" altLang="es-ES" sz="1600" b="0" i="1" u="sng" dirty="0">
              <a:solidFill>
                <a:schemeClr val="accent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351" name="CuadroTexto 11">
            <a:extLst>
              <a:ext uri="{FF2B5EF4-FFF2-40B4-BE49-F238E27FC236}">
                <a16:creationId xmlns:a16="http://schemas.microsoft.com/office/drawing/2014/main" id="{9FC5EF06-176A-46D7-83C8-8027079CD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12D1284F-00AF-4389-AAC4-8EE0A70033EA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7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sp>
        <p:nvSpPr>
          <p:cNvPr id="2" name="Rectángulo 1"/>
          <p:cNvSpPr/>
          <p:nvPr/>
        </p:nvSpPr>
        <p:spPr>
          <a:xfrm>
            <a:off x="0" y="728530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b="0" i="1" dirty="0" smtClean="0">
                <a:solidFill>
                  <a:schemeClr val="tx1"/>
                </a:solidFill>
              </a:rPr>
              <a:t>Seleccionar la normativa que vaya a aplicar en el estudio:</a:t>
            </a:r>
            <a:endParaRPr lang="es-ES_tradnl" altLang="es-ES" b="0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8A3BE575-5640-4BFF-94E3-64B3C7ADE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5888"/>
            <a:ext cx="72771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i="1">
                <a:solidFill>
                  <a:schemeClr val="tx1"/>
                </a:solidFill>
              </a:rPr>
              <a:t>Datos de partida: Radiación solar y clima</a:t>
            </a:r>
            <a:endParaRPr lang="es-ES" altLang="es-ES" sz="1800" i="1">
              <a:solidFill>
                <a:schemeClr val="tx1"/>
              </a:solidFill>
            </a:endParaRPr>
          </a:p>
        </p:txBody>
      </p:sp>
      <p:sp>
        <p:nvSpPr>
          <p:cNvPr id="15363" name="10 Rectángulo">
            <a:extLst>
              <a:ext uri="{FF2B5EF4-FFF2-40B4-BE49-F238E27FC236}">
                <a16:creationId xmlns:a16="http://schemas.microsoft.com/office/drawing/2014/main" id="{CE9A6997-307C-4671-BACB-5E71C49B8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620713"/>
            <a:ext cx="5364163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 b="0" i="1">
                <a:solidFill>
                  <a:schemeClr val="tx1"/>
                </a:solidFill>
              </a:rPr>
              <a:t>Búsqueda de datos de radiación solar y clima</a:t>
            </a:r>
          </a:p>
        </p:txBody>
      </p:sp>
      <p:sp>
        <p:nvSpPr>
          <p:cNvPr id="15364" name="Rectangle 1">
            <a:extLst>
              <a:ext uri="{FF2B5EF4-FFF2-40B4-BE49-F238E27FC236}">
                <a16:creationId xmlns:a16="http://schemas.microsoft.com/office/drawing/2014/main" id="{C91E26AF-143D-4261-B376-19BF1E0E7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163639"/>
            <a:ext cx="7489825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801688" indent="-2667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801688" indent="-2667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lvl="1" eaLnBrk="1" hangingPunct="1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s-ES_tradnl" altLang="es-ES" sz="1600" i="1" dirty="0">
                <a:solidFill>
                  <a:schemeClr val="tx1"/>
                </a:solidFill>
              </a:rPr>
              <a:t>Selección de la base de datos del radiación solar </a:t>
            </a:r>
            <a:r>
              <a:rPr lang="es-ES_tradnl" altLang="es-ES" sz="1600" b="0" i="1" dirty="0">
                <a:solidFill>
                  <a:schemeClr val="tx1"/>
                </a:solidFill>
              </a:rPr>
              <a:t>(*):</a:t>
            </a:r>
          </a:p>
          <a:p>
            <a:pPr lvl="2" eaLnBrk="1" hangingPunct="1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s-ES_tradnl" altLang="es-ES" sz="1600" b="0" i="1" dirty="0">
                <a:solidFill>
                  <a:schemeClr val="tx1"/>
                </a:solidFill>
              </a:rPr>
              <a:t>Período de registro: tiempo acumulado de medidas</a:t>
            </a:r>
          </a:p>
          <a:p>
            <a:pPr lvl="2" eaLnBrk="1" hangingPunct="1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s-ES_tradnl" altLang="es-ES" sz="1600" b="0" i="1" dirty="0">
                <a:solidFill>
                  <a:schemeClr val="tx1"/>
                </a:solidFill>
              </a:rPr>
              <a:t>Resolución temporal: horaria, diaria, mensual, anual …</a:t>
            </a:r>
          </a:p>
          <a:p>
            <a:pPr lvl="2" eaLnBrk="1" hangingPunct="1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s-ES_tradnl" altLang="es-ES" sz="1600" b="0" i="1" dirty="0">
                <a:solidFill>
                  <a:schemeClr val="tx1"/>
                </a:solidFill>
              </a:rPr>
              <a:t>Cobertura espacial: medida de una estación o de una zona geográfica</a:t>
            </a:r>
          </a:p>
          <a:p>
            <a:pPr lvl="2" eaLnBrk="1" hangingPunct="1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s-ES_tradnl" altLang="es-ES" sz="1600" b="0" i="1" dirty="0">
                <a:solidFill>
                  <a:schemeClr val="tx1"/>
                </a:solidFill>
              </a:rPr>
              <a:t>Resolución espacial: tamaño del pixel </a:t>
            </a:r>
          </a:p>
          <a:p>
            <a:pPr lvl="2" eaLnBrk="1" hangingPunct="1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s-ES_tradnl" altLang="es-ES" sz="1600" b="0" i="1" dirty="0">
                <a:solidFill>
                  <a:schemeClr val="tx1"/>
                </a:solidFill>
              </a:rPr>
              <a:t>Variables </a:t>
            </a:r>
            <a:r>
              <a:rPr lang="es-ES_tradnl" altLang="es-ES" sz="1600" b="0" i="1" dirty="0" smtClean="0">
                <a:solidFill>
                  <a:schemeClr val="tx1"/>
                </a:solidFill>
              </a:rPr>
              <a:t>disponibles </a:t>
            </a:r>
            <a:endParaRPr lang="es-ES_tradnl" altLang="es-ES" sz="1600" b="0" i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s-ES_tradnl" altLang="es-ES" sz="1600" b="0" i="1" dirty="0">
                <a:solidFill>
                  <a:schemeClr val="tx1"/>
                </a:solidFill>
              </a:rPr>
              <a:t>Control de calidad y tratamiento de los datos</a:t>
            </a:r>
          </a:p>
          <a:p>
            <a:pPr lvl="2" eaLnBrk="1" hangingPunct="1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s-ES_tradnl" altLang="es-ES" sz="1600" b="0" i="1" dirty="0">
                <a:solidFill>
                  <a:schemeClr val="tx1"/>
                </a:solidFill>
              </a:rPr>
              <a:t>Incertidumbre: valores y componentes de incertidumbre</a:t>
            </a:r>
          </a:p>
          <a:p>
            <a:pPr lvl="2" eaLnBrk="1" hangingPunct="1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s-ES_tradnl" altLang="es-ES" sz="1600" b="0" i="1" dirty="0">
                <a:solidFill>
                  <a:schemeClr val="tx1"/>
                </a:solidFill>
              </a:rPr>
              <a:t>Disponibilidad: libre, pago, licencia, etc.</a:t>
            </a:r>
          </a:p>
          <a:p>
            <a:pPr lvl="2" eaLnBrk="1" hangingPunct="1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s-ES_tradnl" altLang="es-ES" sz="1600" b="0" i="1" dirty="0">
                <a:solidFill>
                  <a:schemeClr val="tx1"/>
                </a:solidFill>
              </a:rPr>
              <a:t>Actualizaciones</a:t>
            </a:r>
          </a:p>
          <a:p>
            <a:pPr lvl="2" eaLnBrk="1" hangingPunct="1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s-ES_tradnl" altLang="es-ES" sz="1600" b="0" i="1" dirty="0">
                <a:solidFill>
                  <a:schemeClr val="tx1"/>
                </a:solidFill>
              </a:rPr>
              <a:t>En caso de recurso solar: revisar existencia de “Año Meteorológico Tipo”</a:t>
            </a:r>
          </a:p>
        </p:txBody>
      </p:sp>
      <p:grpSp>
        <p:nvGrpSpPr>
          <p:cNvPr id="15365" name="8 Grupo">
            <a:extLst>
              <a:ext uri="{FF2B5EF4-FFF2-40B4-BE49-F238E27FC236}">
                <a16:creationId xmlns:a16="http://schemas.microsoft.com/office/drawing/2014/main" id="{4AC1E268-0EE5-4F6E-A420-9975C61B5612}"/>
              </a:ext>
            </a:extLst>
          </p:cNvPr>
          <p:cNvGrpSpPr>
            <a:grpSpLocks/>
          </p:cNvGrpSpPr>
          <p:nvPr/>
        </p:nvGrpSpPr>
        <p:grpSpPr bwMode="auto">
          <a:xfrm>
            <a:off x="-107950" y="-242888"/>
            <a:ext cx="935038" cy="1568451"/>
            <a:chOff x="395536" y="908720"/>
            <a:chExt cx="936104" cy="1569660"/>
          </a:xfrm>
        </p:grpSpPr>
        <p:sp>
          <p:nvSpPr>
            <p:cNvPr id="15368" name="5 Rectángulo">
              <a:extLst>
                <a:ext uri="{FF2B5EF4-FFF2-40B4-BE49-F238E27FC236}">
                  <a16:creationId xmlns:a16="http://schemas.microsoft.com/office/drawing/2014/main" id="{5BCE1E2D-F615-4822-BBFE-22402FBBD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15369" name="6 Elipse">
              <a:extLst>
                <a:ext uri="{FF2B5EF4-FFF2-40B4-BE49-F238E27FC236}">
                  <a16:creationId xmlns:a16="http://schemas.microsoft.com/office/drawing/2014/main" id="{B124C2D4-C3F5-4F37-AAEA-B5A4B6EAA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8" name="Rectangle 1">
            <a:extLst>
              <a:ext uri="{FF2B5EF4-FFF2-40B4-BE49-F238E27FC236}">
                <a16:creationId xmlns:a16="http://schemas.microsoft.com/office/drawing/2014/main" id="{0E21F77D-58AA-4F54-BE6A-80E97DDCA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3" y="5983288"/>
            <a:ext cx="784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180975" indent="-180975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s-ES" sz="1400" b="0" i="1" dirty="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*  NATIONAL RENEWABLE ENERGY LABORATORY NREL </a:t>
            </a:r>
            <a:r>
              <a:rPr lang="es-ES" altLang="es-ES" sz="1400" b="0" i="1" dirty="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2015  </a:t>
            </a:r>
            <a:r>
              <a:rPr lang="en-US" altLang="es-ES" sz="1400" b="0" i="1" dirty="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Best Practices Handbook for the Collection and Use of Solar Resource Data for Solar Energy Applications.</a:t>
            </a:r>
            <a:r>
              <a:rPr lang="es-ES" altLang="es-ES" sz="1400" b="0" i="1" dirty="0">
                <a:solidFill>
                  <a:schemeClr val="tx1"/>
                </a:solidFill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s-ES" altLang="es-ES" sz="1400" b="0" i="1" dirty="0" err="1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Technical</a:t>
            </a:r>
            <a:r>
              <a:rPr lang="es-ES" altLang="es-ES" sz="1400" b="0" i="1" dirty="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s-ES" altLang="es-ES" sz="1400" b="0" i="1" dirty="0" err="1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Report</a:t>
            </a:r>
            <a:r>
              <a:rPr lang="es-ES" altLang="es-ES" sz="1400" b="0" i="1" dirty="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 NREL/TP-5D00-63112.</a:t>
            </a:r>
            <a:endParaRPr lang="es-ES_tradnl" altLang="es-ES" sz="1400" b="0" i="1" dirty="0">
              <a:solidFill>
                <a:schemeClr val="tx1"/>
              </a:solidFill>
              <a:latin typeface="Calibri" panose="020F050202020403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15367" name="CuadroTexto 8">
            <a:extLst>
              <a:ext uri="{FF2B5EF4-FFF2-40B4-BE49-F238E27FC236}">
                <a16:creationId xmlns:a16="http://schemas.microsoft.com/office/drawing/2014/main" id="{CCF68048-7E36-4355-9A42-A7D6C80B5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5E76FE95-0178-40DC-BBA8-BD11B6A64A1D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8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p" bldLvl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DEFC8013-6DFF-4B59-B814-B178DD200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49" y="164235"/>
            <a:ext cx="72771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dirty="0">
                <a:solidFill>
                  <a:schemeClr val="accent2"/>
                </a:solidFill>
              </a:rPr>
              <a:t>Datos de partida: Radiación solar y clima</a:t>
            </a:r>
            <a:endParaRPr lang="es-ES" altLang="es-ES" sz="1800" dirty="0">
              <a:solidFill>
                <a:schemeClr val="accent2"/>
              </a:solidFill>
            </a:endParaRPr>
          </a:p>
        </p:txBody>
      </p:sp>
      <p:grpSp>
        <p:nvGrpSpPr>
          <p:cNvPr id="17412" name="6 Grupo">
            <a:extLst>
              <a:ext uri="{FF2B5EF4-FFF2-40B4-BE49-F238E27FC236}">
                <a16:creationId xmlns:a16="http://schemas.microsoft.com/office/drawing/2014/main" id="{1AB428CB-83FF-419C-8E6A-08F4951E447A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5516563"/>
            <a:ext cx="936625" cy="1570037"/>
            <a:chOff x="395536" y="908720"/>
            <a:chExt cx="936104" cy="1569660"/>
          </a:xfrm>
        </p:grpSpPr>
        <p:sp>
          <p:nvSpPr>
            <p:cNvPr id="17426" name="7 Rectángulo">
              <a:extLst>
                <a:ext uri="{FF2B5EF4-FFF2-40B4-BE49-F238E27FC236}">
                  <a16:creationId xmlns:a16="http://schemas.microsoft.com/office/drawing/2014/main" id="{96FDDB23-B9E6-4BB7-A94C-EA6286627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17427" name="8 Elipse">
              <a:extLst>
                <a:ext uri="{FF2B5EF4-FFF2-40B4-BE49-F238E27FC236}">
                  <a16:creationId xmlns:a16="http://schemas.microsoft.com/office/drawing/2014/main" id="{786FD9EB-5EFB-438C-9AC5-ABF56D3C9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10" name="9 Tabla">
            <a:extLst>
              <a:ext uri="{FF2B5EF4-FFF2-40B4-BE49-F238E27FC236}">
                <a16:creationId xmlns:a16="http://schemas.microsoft.com/office/drawing/2014/main" id="{AB1D131F-A25B-44DD-9810-CCD80E238420}"/>
              </a:ext>
            </a:extLst>
          </p:cNvPr>
          <p:cNvGraphicFramePr>
            <a:graphicFrameLocks noGrp="1"/>
          </p:cNvGraphicFramePr>
          <p:nvPr/>
        </p:nvGraphicFramePr>
        <p:xfrm>
          <a:off x="1763713" y="5732463"/>
          <a:ext cx="5545137" cy="936625"/>
        </p:xfrm>
        <a:graphic>
          <a:graphicData uri="http://schemas.openxmlformats.org/drawingml/2006/table">
            <a:tbl>
              <a:tblPr/>
              <a:tblGrid>
                <a:gridCol w="1008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endParaRPr lang="es-ES" sz="1800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i="1" dirty="0">
                          <a:solidFill>
                            <a:schemeClr val="tx1"/>
                          </a:solidFill>
                        </a:rPr>
                        <a:t>Justificar la</a:t>
                      </a:r>
                      <a:r>
                        <a:rPr lang="es-ES" sz="1600" b="1" i="1" baseline="0" dirty="0">
                          <a:solidFill>
                            <a:schemeClr val="tx1"/>
                          </a:solidFill>
                        </a:rPr>
                        <a:t> base de datos de radiación solar</a:t>
                      </a:r>
                      <a:endParaRPr lang="es-ES" sz="1600" b="1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7422" name="11 Grupo">
            <a:extLst>
              <a:ext uri="{FF2B5EF4-FFF2-40B4-BE49-F238E27FC236}">
                <a16:creationId xmlns:a16="http://schemas.microsoft.com/office/drawing/2014/main" id="{2B8C5AFB-4E3C-4931-ACFF-76CB6F4A8712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17424" name="12 Elipse">
              <a:extLst>
                <a:ext uri="{FF2B5EF4-FFF2-40B4-BE49-F238E27FC236}">
                  <a16:creationId xmlns:a16="http://schemas.microsoft.com/office/drawing/2014/main" id="{AD6E9534-1BD5-42DB-B098-28DC20914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17425" name="14 Flecha derecha">
              <a:extLst>
                <a:ext uri="{FF2B5EF4-FFF2-40B4-BE49-F238E27FC236}">
                  <a16:creationId xmlns:a16="http://schemas.microsoft.com/office/drawing/2014/main" id="{F51CCDA9-E68C-45AF-A7A5-EF7C8C516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17423" name="CuadroTexto 11">
            <a:extLst>
              <a:ext uri="{FF2B5EF4-FFF2-40B4-BE49-F238E27FC236}">
                <a16:creationId xmlns:a16="http://schemas.microsoft.com/office/drawing/2014/main" id="{10B786DC-736F-4395-ABAD-4BC0C00F4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A3472E70-5FFC-4474-94B4-412FC832D45F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9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23AF5E31-7629-4C50-B7CF-C22472E78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284514"/>
              </p:ext>
            </p:extLst>
          </p:nvPr>
        </p:nvGraphicFramePr>
        <p:xfrm>
          <a:off x="218672" y="1100005"/>
          <a:ext cx="8551862" cy="3462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1371">
                  <a:extLst>
                    <a:ext uri="{9D8B030D-6E8A-4147-A177-3AD203B41FA5}">
                      <a16:colId xmlns:a16="http://schemas.microsoft.com/office/drawing/2014/main" val="1191544066"/>
                    </a:ext>
                  </a:extLst>
                </a:gridCol>
                <a:gridCol w="1440085">
                  <a:extLst>
                    <a:ext uri="{9D8B030D-6E8A-4147-A177-3AD203B41FA5}">
                      <a16:colId xmlns:a16="http://schemas.microsoft.com/office/drawing/2014/main" val="3591361342"/>
                    </a:ext>
                  </a:extLst>
                </a:gridCol>
                <a:gridCol w="1457265">
                  <a:extLst>
                    <a:ext uri="{9D8B030D-6E8A-4147-A177-3AD203B41FA5}">
                      <a16:colId xmlns:a16="http://schemas.microsoft.com/office/drawing/2014/main" val="3411893353"/>
                    </a:ext>
                  </a:extLst>
                </a:gridCol>
                <a:gridCol w="1333141">
                  <a:extLst>
                    <a:ext uri="{9D8B030D-6E8A-4147-A177-3AD203B41FA5}">
                      <a16:colId xmlns:a16="http://schemas.microsoft.com/office/drawing/2014/main" val="1544669569"/>
                    </a:ext>
                  </a:extLst>
                </a:gridCol>
              </a:tblGrid>
              <a:tr h="45978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Característica</a:t>
                      </a:r>
                      <a:endParaRPr lang="es-ES" sz="16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13" marR="108013" marT="107988" marB="107988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 smtClean="0">
                          <a:solidFill>
                            <a:schemeClr val="tx1"/>
                          </a:solidFill>
                        </a:rPr>
                        <a:t>BBDD </a:t>
                      </a:r>
                      <a:r>
                        <a:rPr lang="es-E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 smtClean="0">
                          <a:solidFill>
                            <a:schemeClr val="tx1"/>
                          </a:solidFill>
                        </a:rPr>
                        <a:t>BBDD </a:t>
                      </a:r>
                      <a:r>
                        <a:rPr lang="es-E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 smtClean="0">
                          <a:solidFill>
                            <a:schemeClr val="tx1"/>
                          </a:solidFill>
                        </a:rPr>
                        <a:t>BBDD </a:t>
                      </a:r>
                      <a:r>
                        <a:rPr lang="es-E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385005"/>
                  </a:ext>
                </a:extLst>
              </a:tr>
              <a:tr h="45978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Número de años con medidas</a:t>
                      </a:r>
                      <a:endParaRPr lang="es-ES" sz="16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13" marR="108013" marT="107988" marB="107988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990148"/>
                  </a:ext>
                </a:extLst>
              </a:tr>
              <a:tr h="45978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Resolución temporal</a:t>
                      </a:r>
                      <a:endParaRPr lang="es-ES" sz="16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13" marR="108013" marT="107988" marB="107988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171194"/>
                  </a:ext>
                </a:extLst>
              </a:tr>
              <a:tr h="45978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Resolución espacial</a:t>
                      </a:r>
                      <a:endParaRPr lang="es-ES" sz="16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13" marR="108013" marT="107988" marB="107988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508263"/>
                  </a:ext>
                </a:extLst>
              </a:tr>
              <a:tr h="703602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Fuente de datos (estación piranómetro, estación célula calibrada, satélite, …)</a:t>
                      </a:r>
                      <a:endParaRPr lang="es-ES" sz="16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13" marR="108013" marT="107988" marB="107988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168374"/>
                  </a:ext>
                </a:extLst>
              </a:tr>
              <a:tr h="45978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Precisión de los datos</a:t>
                      </a:r>
                      <a:endParaRPr lang="es-ES" sz="16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13" marR="108013" marT="107988" marB="107988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680720"/>
                  </a:ext>
                </a:extLst>
              </a:tr>
              <a:tr h="45978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Otras</a:t>
                      </a:r>
                      <a:r>
                        <a:rPr lang="es-ES" sz="1600" b="0" i="0" u="none" strike="noStrike" dirty="0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6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características</a:t>
                      </a:r>
                    </a:p>
                  </a:txBody>
                  <a:tcPr marL="108013" marR="108013" marT="107988" marB="107988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13" marR="108013" marT="107988" marB="107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467696"/>
                  </a:ext>
                </a:extLst>
              </a:tr>
            </a:tbl>
          </a:graphicData>
        </a:graphic>
      </p:graphicFrame>
      <p:sp>
        <p:nvSpPr>
          <p:cNvPr id="14" name="14 Rectángulo">
            <a:extLst>
              <a:ext uri="{FF2B5EF4-FFF2-40B4-BE49-F238E27FC236}">
                <a16:creationId xmlns:a16="http://schemas.microsoft.com/office/drawing/2014/main" id="{73471D2C-38C2-4889-BDA9-0719C7C07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957" y="623786"/>
            <a:ext cx="58326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400"/>
              </a:lnSpc>
              <a:spcBef>
                <a:spcPts val="1200"/>
              </a:spcBef>
              <a:spcAft>
                <a:spcPts val="600"/>
              </a:spcAft>
            </a:pPr>
            <a:r>
              <a:rPr lang="es-ES_tradnl" altLang="es-ES" sz="1600" b="0" dirty="0" smtClean="0">
                <a:solidFill>
                  <a:schemeClr val="tx1"/>
                </a:solidFill>
              </a:rPr>
              <a:t>Justificación de la base de datos por análisis comparativo</a:t>
            </a:r>
            <a:endParaRPr lang="es-ES_tradnl" altLang="es-ES" sz="1600" b="0" dirty="0">
              <a:solidFill>
                <a:schemeClr val="tx1"/>
              </a:solidFill>
            </a:endParaRPr>
          </a:p>
        </p:txBody>
      </p:sp>
      <p:sp>
        <p:nvSpPr>
          <p:cNvPr id="15" name="14 Rectángulo">
            <a:extLst>
              <a:ext uri="{FF2B5EF4-FFF2-40B4-BE49-F238E27FC236}">
                <a16:creationId xmlns:a16="http://schemas.microsoft.com/office/drawing/2014/main" id="{D77F97A3-03D0-40B1-9214-1A99E2C59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275" y="4766554"/>
            <a:ext cx="5433448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400"/>
              </a:lnSpc>
              <a:spcBef>
                <a:spcPts val="1200"/>
              </a:spcBef>
              <a:spcAft>
                <a:spcPts val="600"/>
              </a:spcAft>
            </a:pPr>
            <a:r>
              <a:rPr lang="es-ES_tradnl" altLang="es-ES" sz="1600" b="0" dirty="0">
                <a:solidFill>
                  <a:schemeClr val="tx1"/>
                </a:solidFill>
              </a:rPr>
              <a:t>Es conveniente comparar los valores medios diarios y/o mensuales para las bases de datos consideradas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C53F1EF0-87B7-4FDA-BF9F-C2825A183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60350"/>
            <a:ext cx="72771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>
                <a:solidFill>
                  <a:schemeClr val="accent2"/>
                </a:solidFill>
              </a:rPr>
              <a:t>Datos de partida: Radiación solar y clima</a:t>
            </a:r>
            <a:endParaRPr lang="es-ES" altLang="es-ES" sz="1800">
              <a:solidFill>
                <a:schemeClr val="accent2"/>
              </a:solidFill>
            </a:endParaRPr>
          </a:p>
        </p:txBody>
      </p:sp>
      <p:sp>
        <p:nvSpPr>
          <p:cNvPr id="18435" name="Rectangle 7">
            <a:extLst>
              <a:ext uri="{FF2B5EF4-FFF2-40B4-BE49-F238E27FC236}">
                <a16:creationId xmlns:a16="http://schemas.microsoft.com/office/drawing/2014/main" id="{B44286A1-E3BA-41B0-95E1-BB81FBA59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58" y="1320607"/>
            <a:ext cx="6173789" cy="1892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7800" indent="-1778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altLang="es-ES" sz="1600" dirty="0">
                <a:solidFill>
                  <a:schemeClr val="accent2"/>
                </a:solidFill>
              </a:rPr>
              <a:t>Año meteorológico tipo </a:t>
            </a:r>
            <a:r>
              <a:rPr lang="es-ES" altLang="es-ES" sz="1600" b="0" dirty="0" smtClean="0">
                <a:solidFill>
                  <a:schemeClr val="accent2"/>
                </a:solidFill>
              </a:rPr>
              <a:t>(aportar </a:t>
            </a:r>
            <a:r>
              <a:rPr lang="es-ES" altLang="es-ES" sz="1600" b="0" dirty="0">
                <a:solidFill>
                  <a:schemeClr val="accent2"/>
                </a:solidFill>
              </a:rPr>
              <a:t>tabla de </a:t>
            </a:r>
            <a:r>
              <a:rPr lang="es-ES" altLang="es-ES" sz="1600" b="0" dirty="0" smtClean="0">
                <a:solidFill>
                  <a:schemeClr val="accent2"/>
                </a:solidFill>
              </a:rPr>
              <a:t>valores mensuales) </a:t>
            </a:r>
            <a:endParaRPr lang="es-ES" altLang="es-ES" sz="1600" b="0" dirty="0">
              <a:solidFill>
                <a:schemeClr val="accent2"/>
              </a:solidFill>
            </a:endParaRPr>
          </a:p>
          <a:p>
            <a:pPr eaLnBrk="1" hangingPunct="1"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altLang="es-ES" sz="1600" dirty="0">
                <a:solidFill>
                  <a:schemeClr val="accent2"/>
                </a:solidFill>
              </a:rPr>
              <a:t>Temperatura ambiente mínima diurna</a:t>
            </a:r>
          </a:p>
          <a:p>
            <a:pPr eaLnBrk="1" hangingPunct="1"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altLang="es-ES" sz="1600" dirty="0">
                <a:solidFill>
                  <a:schemeClr val="accent2"/>
                </a:solidFill>
              </a:rPr>
              <a:t>Temperatura ambiente máxima diurna </a:t>
            </a:r>
          </a:p>
          <a:p>
            <a:pPr eaLnBrk="1" hangingPunct="1">
              <a:lnSpc>
                <a:spcPts val="25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altLang="es-ES" sz="1600" dirty="0">
                <a:solidFill>
                  <a:schemeClr val="accent2"/>
                </a:solidFill>
              </a:rPr>
              <a:t>Velocidad del viento máxima y media</a:t>
            </a:r>
          </a:p>
        </p:txBody>
      </p:sp>
      <p:grpSp>
        <p:nvGrpSpPr>
          <p:cNvPr id="18436" name="6 Grupo">
            <a:extLst>
              <a:ext uri="{FF2B5EF4-FFF2-40B4-BE49-F238E27FC236}">
                <a16:creationId xmlns:a16="http://schemas.microsoft.com/office/drawing/2014/main" id="{B2396E67-CBFA-4607-A921-22B7D6754D5E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5516563"/>
            <a:ext cx="936625" cy="1570037"/>
            <a:chOff x="395536" y="908720"/>
            <a:chExt cx="936104" cy="1569660"/>
          </a:xfrm>
        </p:grpSpPr>
        <p:sp>
          <p:nvSpPr>
            <p:cNvPr id="18452" name="7 Rectángulo">
              <a:extLst>
                <a:ext uri="{FF2B5EF4-FFF2-40B4-BE49-F238E27FC236}">
                  <a16:creationId xmlns:a16="http://schemas.microsoft.com/office/drawing/2014/main" id="{F2C64A74-7648-46D4-B016-EEFEF460D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18453" name="8 Elipse">
              <a:extLst>
                <a:ext uri="{FF2B5EF4-FFF2-40B4-BE49-F238E27FC236}">
                  <a16:creationId xmlns:a16="http://schemas.microsoft.com/office/drawing/2014/main" id="{9E442B49-6F22-4C8D-BF64-571B8C770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10" name="9 Tabla">
            <a:extLst>
              <a:ext uri="{FF2B5EF4-FFF2-40B4-BE49-F238E27FC236}">
                <a16:creationId xmlns:a16="http://schemas.microsoft.com/office/drawing/2014/main" id="{328895B5-6265-41FD-AF6E-AD395ABDB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23765"/>
              </p:ext>
            </p:extLst>
          </p:nvPr>
        </p:nvGraphicFramePr>
        <p:xfrm>
          <a:off x="1763713" y="5732463"/>
          <a:ext cx="5545137" cy="936625"/>
        </p:xfrm>
        <a:graphic>
          <a:graphicData uri="http://schemas.openxmlformats.org/drawingml/2006/table">
            <a:tbl>
              <a:tblPr/>
              <a:tblGrid>
                <a:gridCol w="1008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endParaRPr lang="es-ES" sz="1800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i="1" dirty="0">
                          <a:solidFill>
                            <a:schemeClr val="tx1"/>
                          </a:solidFill>
                        </a:rPr>
                        <a:t>Indicar siempre la fuente de</a:t>
                      </a:r>
                      <a:r>
                        <a:rPr lang="es-ES" sz="1600" b="1" i="1" baseline="0" dirty="0">
                          <a:solidFill>
                            <a:schemeClr val="tx1"/>
                          </a:solidFill>
                        </a:rPr>
                        <a:t> los datos de clima y radiación </a:t>
                      </a:r>
                      <a:r>
                        <a:rPr lang="es-ES" sz="1600" b="1" i="1" baseline="0" dirty="0" smtClean="0">
                          <a:solidFill>
                            <a:schemeClr val="tx1"/>
                          </a:solidFill>
                        </a:rPr>
                        <a:t>solar y poner gráficas y/o tablas con los datos básicos</a:t>
                      </a:r>
                      <a:endParaRPr lang="es-ES" sz="1600" b="1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445" name="10 Rectángulo">
            <a:extLst>
              <a:ext uri="{FF2B5EF4-FFF2-40B4-BE49-F238E27FC236}">
                <a16:creationId xmlns:a16="http://schemas.microsoft.com/office/drawing/2014/main" id="{6B93069A-6149-4FC4-AF4C-C10D28CA1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3" y="764704"/>
            <a:ext cx="5364163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 b="0" dirty="0">
                <a:solidFill>
                  <a:schemeClr val="accent2"/>
                </a:solidFill>
              </a:rPr>
              <a:t>Datos necesarios</a:t>
            </a:r>
          </a:p>
        </p:txBody>
      </p:sp>
      <p:grpSp>
        <p:nvGrpSpPr>
          <p:cNvPr id="18446" name="11 Grupo">
            <a:extLst>
              <a:ext uri="{FF2B5EF4-FFF2-40B4-BE49-F238E27FC236}">
                <a16:creationId xmlns:a16="http://schemas.microsoft.com/office/drawing/2014/main" id="{C1B12514-C1D7-40CC-B97D-E78D98B8AB36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18450" name="12 Elipse">
              <a:extLst>
                <a:ext uri="{FF2B5EF4-FFF2-40B4-BE49-F238E27FC236}">
                  <a16:creationId xmlns:a16="http://schemas.microsoft.com/office/drawing/2014/main" id="{95C4DE4F-68F6-4BC1-90FE-7F8D5BF9D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18451" name="14 Flecha derecha">
              <a:extLst>
                <a:ext uri="{FF2B5EF4-FFF2-40B4-BE49-F238E27FC236}">
                  <a16:creationId xmlns:a16="http://schemas.microsoft.com/office/drawing/2014/main" id="{5CA2CCE1-AC82-4E69-8B40-94674BA86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18447" name="15 Rectángulo">
            <a:extLst>
              <a:ext uri="{FF2B5EF4-FFF2-40B4-BE49-F238E27FC236}">
                <a16:creationId xmlns:a16="http://schemas.microsoft.com/office/drawing/2014/main" id="{9D019427-F816-4D00-8A64-80FD407ED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591" y="3630429"/>
            <a:ext cx="8569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" altLang="es-ES" sz="1600" dirty="0">
                <a:hlinkClick r:id="rId3"/>
              </a:rPr>
              <a:t>http://www.aemet.es/es/serviciosclimaticos/datosclimatologicos/efemerides_extremos</a:t>
            </a:r>
            <a:endParaRPr lang="es-ES" altLang="es-ES" sz="1600" dirty="0"/>
          </a:p>
        </p:txBody>
      </p:sp>
      <p:sp>
        <p:nvSpPr>
          <p:cNvPr id="18448" name="16 Rectángulo">
            <a:extLst>
              <a:ext uri="{FF2B5EF4-FFF2-40B4-BE49-F238E27FC236}">
                <a16:creationId xmlns:a16="http://schemas.microsoft.com/office/drawing/2014/main" id="{E136D14F-FDA9-4A6F-84EB-4492B3C14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3212976"/>
            <a:ext cx="65405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" altLang="es-ES" sz="1600" b="0" i="1" dirty="0">
                <a:solidFill>
                  <a:schemeClr val="tx1"/>
                </a:solidFill>
              </a:rPr>
              <a:t>Página de AEMET con temperaturas máximas y mínimas absolutas:</a:t>
            </a:r>
          </a:p>
        </p:txBody>
      </p:sp>
      <p:sp>
        <p:nvSpPr>
          <p:cNvPr id="18449" name="CuadroTexto 13">
            <a:extLst>
              <a:ext uri="{FF2B5EF4-FFF2-40B4-BE49-F238E27FC236}">
                <a16:creationId xmlns:a16="http://schemas.microsoft.com/office/drawing/2014/main" id="{0EBF67CF-821F-4889-93EB-A3E39D626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E2C3D9FF-12C1-4961-B409-174058C621AA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10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sp>
        <p:nvSpPr>
          <p:cNvPr id="18" name="4 Rectángulo">
            <a:extLst>
              <a:ext uri="{FF2B5EF4-FFF2-40B4-BE49-F238E27FC236}">
                <a16:creationId xmlns:a16="http://schemas.microsoft.com/office/drawing/2014/main" id="{604F5DD5-BF1F-4267-998A-328788114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790" y="4242916"/>
            <a:ext cx="243363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>
                <a:solidFill>
                  <a:schemeClr val="accent2"/>
                </a:solidFill>
              </a:rPr>
              <a:t>Inclinación óptima</a:t>
            </a:r>
            <a:endParaRPr lang="es-ES" altLang="es-ES" sz="1800">
              <a:solidFill>
                <a:schemeClr val="accent2"/>
              </a:solidFill>
            </a:endParaRPr>
          </a:p>
        </p:txBody>
      </p:sp>
      <p:sp>
        <p:nvSpPr>
          <p:cNvPr id="19" name="5 Rectángulo">
            <a:extLst>
              <a:ext uri="{FF2B5EF4-FFF2-40B4-BE49-F238E27FC236}">
                <a16:creationId xmlns:a16="http://schemas.microsoft.com/office/drawing/2014/main" id="{0059A312-25D1-4D9D-B6BB-217F366E9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02" y="4819178"/>
            <a:ext cx="770413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 sz="1600" b="0" i="1">
                <a:solidFill>
                  <a:schemeClr val="tx1"/>
                </a:solidFill>
              </a:rPr>
              <a:t>Determinar la inclinación óptima para la latitud </a:t>
            </a:r>
            <a:r>
              <a:rPr lang="el-GR" altLang="es-ES" sz="1600" b="0" i="1">
                <a:solidFill>
                  <a:schemeClr val="tx1"/>
                </a:solidFill>
              </a:rPr>
              <a:t>Φ</a:t>
            </a:r>
            <a:r>
              <a:rPr lang="es-ES" altLang="es-ES" sz="1600" b="0" i="1">
                <a:solidFill>
                  <a:schemeClr val="tx1"/>
                </a:solidFill>
              </a:rPr>
              <a:t> </a:t>
            </a:r>
            <a:r>
              <a:rPr lang="es-ES_tradnl" altLang="es-ES" sz="1600" b="0" i="1">
                <a:solidFill>
                  <a:schemeClr val="tx1"/>
                </a:solidFill>
              </a:rPr>
              <a:t>del lugar por uso de la base de datos de radiación seleccionada</a:t>
            </a:r>
          </a:p>
        </p:txBody>
      </p:sp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75CB6E7B-5E2D-46A6-978A-62BDD46012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258676"/>
              </p:ext>
            </p:extLst>
          </p:nvPr>
        </p:nvGraphicFramePr>
        <p:xfrm>
          <a:off x="5940152" y="4280177"/>
          <a:ext cx="825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cuación" r:id="rId4" imgW="457002" imgH="253890" progId="">
                  <p:embed/>
                </p:oleObj>
              </mc:Choice>
              <mc:Fallback>
                <p:oleObj name="Ecuación" r:id="rId4" imgW="457002" imgH="253890" progId="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5CB6E7B-5E2D-46A6-978A-62BDD46012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4280177"/>
                        <a:ext cx="825500" cy="4572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B925C00C-8BDC-40FD-8D5D-6E65323F9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60350"/>
            <a:ext cx="72771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i="1">
                <a:solidFill>
                  <a:schemeClr val="tx1"/>
                </a:solidFill>
              </a:rPr>
              <a:t>Datos de partida: Edificio</a:t>
            </a:r>
            <a:endParaRPr lang="es-ES" altLang="es-ES" i="1">
              <a:solidFill>
                <a:schemeClr val="tx1"/>
              </a:solidFill>
            </a:endParaRPr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DCBA4E73-FC1C-40CF-AD02-75EF05A11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871538"/>
            <a:ext cx="72771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" altLang="es-ES" sz="1600" b="0" i="1" dirty="0">
                <a:solidFill>
                  <a:schemeClr val="tx1"/>
                </a:solidFill>
              </a:rPr>
              <a:t>Analizar la envolvente del edificio con el objetivo de determinar las superficies más adecuadas para instalar módulos fotovoltaicos (se pueden utilizar como herramientas: representación simplificada en tres dimensiones, plano con cubiertas disponibles, etc.). 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" altLang="es-ES" sz="1600" i="1" u="sng" dirty="0">
                <a:solidFill>
                  <a:schemeClr val="bg2">
                    <a:lumMod val="50000"/>
                  </a:schemeClr>
                </a:solidFill>
              </a:rPr>
              <a:t>Para cada superficie determinar: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s-ES" altLang="es-ES" sz="1600" b="0" i="1" dirty="0">
                <a:solidFill>
                  <a:schemeClr val="bg2">
                    <a:lumMod val="50000"/>
                  </a:schemeClr>
                </a:solidFill>
              </a:rPr>
              <a:t> Área de la superficie (m</a:t>
            </a:r>
            <a:r>
              <a:rPr lang="es-ES" altLang="es-ES" sz="1600" b="0" i="1" baseline="30000" dirty="0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es-ES" altLang="es-ES" sz="1600" b="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s-ES" altLang="es-ES" sz="1600" b="0" i="1" dirty="0">
                <a:solidFill>
                  <a:schemeClr val="bg2">
                    <a:lumMod val="50000"/>
                  </a:schemeClr>
                </a:solidFill>
              </a:rPr>
              <a:t> Orientación </a:t>
            </a:r>
            <a:r>
              <a:rPr lang="es-ES" altLang="es-ES" sz="1600" b="0" i="1" dirty="0" smtClean="0">
                <a:solidFill>
                  <a:schemeClr val="bg2">
                    <a:lumMod val="50000"/>
                  </a:schemeClr>
                </a:solidFill>
              </a:rPr>
              <a:t>e inclinación de </a:t>
            </a:r>
            <a:r>
              <a:rPr lang="es-ES" altLang="es-ES" sz="1600" b="0" i="1" dirty="0">
                <a:solidFill>
                  <a:schemeClr val="bg2">
                    <a:lumMod val="50000"/>
                  </a:schemeClr>
                </a:solidFill>
              </a:rPr>
              <a:t>la </a:t>
            </a:r>
            <a:r>
              <a:rPr lang="es-ES" altLang="es-ES" sz="1600" b="0" i="1" dirty="0" smtClean="0">
                <a:solidFill>
                  <a:schemeClr val="bg2">
                    <a:lumMod val="50000"/>
                  </a:schemeClr>
                </a:solidFill>
              </a:rPr>
              <a:t>superficie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s-ES" altLang="es-ES" sz="1600" b="0" i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altLang="es-ES" sz="1600" b="0" i="1" dirty="0">
                <a:solidFill>
                  <a:schemeClr val="bg2">
                    <a:lumMod val="50000"/>
                  </a:schemeClr>
                </a:solidFill>
              </a:rPr>
              <a:t>Características de la superficie (materiales, utilización, accesibilidad, etc.)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s-ES" altLang="es-ES" sz="1600" b="0" i="1" dirty="0">
                <a:solidFill>
                  <a:schemeClr val="bg2">
                    <a:lumMod val="50000"/>
                  </a:schemeClr>
                </a:solidFill>
              </a:rPr>
              <a:t> Estudio de sombras debidas a obstáculos cercanos (estudio gráfico para evitar, en lo posible, el sombreado del campo fotovoltaico en las horas centrales del solsticio de invierno)</a:t>
            </a:r>
          </a:p>
        </p:txBody>
      </p:sp>
      <p:sp>
        <p:nvSpPr>
          <p:cNvPr id="22532" name="Rectangle 1">
            <a:extLst>
              <a:ext uri="{FF2B5EF4-FFF2-40B4-BE49-F238E27FC236}">
                <a16:creationId xmlns:a16="http://schemas.microsoft.com/office/drawing/2014/main" id="{3CC6C807-F5B1-41CB-8BC3-D1E02D6A3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805696"/>
            <a:ext cx="7097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es-ES" altLang="es-ES" sz="1600" b="0" i="1" dirty="0">
                <a:solidFill>
                  <a:schemeClr val="tx1"/>
                </a:solidFill>
              </a:rPr>
              <a:t>Realizar estudio de sombras, con PVSYST </a:t>
            </a:r>
            <a:r>
              <a:rPr lang="es-ES" altLang="es-ES" sz="1600" b="0" i="1" dirty="0" err="1">
                <a:solidFill>
                  <a:schemeClr val="tx1"/>
                </a:solidFill>
              </a:rPr>
              <a:t>ó</a:t>
            </a:r>
            <a:r>
              <a:rPr lang="es-ES" altLang="es-ES" sz="1600" b="0" i="1" dirty="0">
                <a:solidFill>
                  <a:schemeClr val="tx1"/>
                </a:solidFill>
              </a:rPr>
              <a:t>/y gráfico, adjuntar indicando el azimut y altura solar del perfil que define cada obstáculo.</a:t>
            </a:r>
          </a:p>
        </p:txBody>
      </p:sp>
      <p:grpSp>
        <p:nvGrpSpPr>
          <p:cNvPr id="22533" name="8 Grupo">
            <a:extLst>
              <a:ext uri="{FF2B5EF4-FFF2-40B4-BE49-F238E27FC236}">
                <a16:creationId xmlns:a16="http://schemas.microsoft.com/office/drawing/2014/main" id="{0992C23F-A20E-401C-A1F2-3210BA5C3212}"/>
              </a:ext>
            </a:extLst>
          </p:cNvPr>
          <p:cNvGrpSpPr>
            <a:grpSpLocks/>
          </p:cNvGrpSpPr>
          <p:nvPr/>
        </p:nvGrpSpPr>
        <p:grpSpPr bwMode="auto">
          <a:xfrm>
            <a:off x="-107950" y="-242888"/>
            <a:ext cx="935038" cy="1568451"/>
            <a:chOff x="395536" y="908720"/>
            <a:chExt cx="936104" cy="1569660"/>
          </a:xfrm>
        </p:grpSpPr>
        <p:sp>
          <p:nvSpPr>
            <p:cNvPr id="22536" name="16 Rectángulo">
              <a:extLst>
                <a:ext uri="{FF2B5EF4-FFF2-40B4-BE49-F238E27FC236}">
                  <a16:creationId xmlns:a16="http://schemas.microsoft.com/office/drawing/2014/main" id="{9D81E293-6021-4B5B-894B-2EF64A2F5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22537" name="17 Elipse">
              <a:extLst>
                <a:ext uri="{FF2B5EF4-FFF2-40B4-BE49-F238E27FC236}">
                  <a16:creationId xmlns:a16="http://schemas.microsoft.com/office/drawing/2014/main" id="{F99F231D-2B7F-47BE-BD2D-201E6CD14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22534" name="Rectangle 1">
            <a:extLst>
              <a:ext uri="{FF2B5EF4-FFF2-40B4-BE49-F238E27FC236}">
                <a16:creationId xmlns:a16="http://schemas.microsoft.com/office/drawing/2014/main" id="{4DD8BDD2-28F8-48F4-91E4-0B7EB7BAA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55" y="5593904"/>
            <a:ext cx="734377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es-ES" altLang="es-ES" sz="1600" b="0" i="1" dirty="0">
                <a:solidFill>
                  <a:schemeClr val="tx1"/>
                </a:solidFill>
              </a:rPr>
              <a:t>Nota: el proceso es dinámico, la selección del módulo se indica más adelante, pero está totalmente interrelacionada con el tipo de instalación que se </a:t>
            </a:r>
            <a:r>
              <a:rPr lang="es-ES" altLang="es-ES" sz="1600" b="0" i="1" dirty="0" smtClean="0">
                <a:solidFill>
                  <a:schemeClr val="tx1"/>
                </a:solidFill>
              </a:rPr>
              <a:t>realiza, y puede ser más eficaz realizar el estudio de sombras con el módulo seleccionado.</a:t>
            </a:r>
            <a:endParaRPr lang="es-ES" altLang="es-ES" sz="1600" b="0" i="1" dirty="0">
              <a:solidFill>
                <a:schemeClr val="tx1"/>
              </a:solidFill>
            </a:endParaRPr>
          </a:p>
        </p:txBody>
      </p:sp>
      <p:sp>
        <p:nvSpPr>
          <p:cNvPr id="22535" name="CuadroTexto 8">
            <a:extLst>
              <a:ext uri="{FF2B5EF4-FFF2-40B4-BE49-F238E27FC236}">
                <a16:creationId xmlns:a16="http://schemas.microsoft.com/office/drawing/2014/main" id="{B84C2953-A4C7-4401-84F9-FB50177D7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CB68AE59-2CB0-40E0-B2DE-07064A110BF0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11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  <p:bldP spid="22532" grpId="0"/>
      <p:bldP spid="225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0E1A9155-523B-4FBF-851A-EC2259DF2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60350"/>
            <a:ext cx="72771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>
                <a:solidFill>
                  <a:schemeClr val="accent2"/>
                </a:solidFill>
              </a:rPr>
              <a:t>Plano(s) del edificio</a:t>
            </a:r>
            <a:endParaRPr lang="es-ES" altLang="es-ES">
              <a:solidFill>
                <a:schemeClr val="accent2"/>
              </a:solidFill>
            </a:endParaRPr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D933A9E0-B152-4561-9C04-15298B243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765175"/>
            <a:ext cx="70993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altLang="es-ES" sz="1600" b="0" i="1" dirty="0">
                <a:solidFill>
                  <a:schemeClr val="tx1"/>
                </a:solidFill>
              </a:rPr>
              <a:t>Incluir planos que permitan identificar las dimensiones, inclinación y orientación de las superficies disponibles del edificio e indicar los datos siguientes para cada superficie considerada</a:t>
            </a:r>
          </a:p>
        </p:txBody>
      </p:sp>
      <p:grpSp>
        <p:nvGrpSpPr>
          <p:cNvPr id="23556" name="12 Grupo">
            <a:extLst>
              <a:ext uri="{FF2B5EF4-FFF2-40B4-BE49-F238E27FC236}">
                <a16:creationId xmlns:a16="http://schemas.microsoft.com/office/drawing/2014/main" id="{D3DBC097-505F-49AF-BBDE-9F5A34C71311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23613" name="14 Elipse">
              <a:extLst>
                <a:ext uri="{FF2B5EF4-FFF2-40B4-BE49-F238E27FC236}">
                  <a16:creationId xmlns:a16="http://schemas.microsoft.com/office/drawing/2014/main" id="{7E00886C-8589-4502-804C-59C1B1532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23614" name="15 Flecha derecha">
              <a:extLst>
                <a:ext uri="{FF2B5EF4-FFF2-40B4-BE49-F238E27FC236}">
                  <a16:creationId xmlns:a16="http://schemas.microsoft.com/office/drawing/2014/main" id="{0DE20B6C-CB6A-4070-89EF-AAB388004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23557" name="Text Box 3">
            <a:extLst>
              <a:ext uri="{FF2B5EF4-FFF2-40B4-BE49-F238E27FC236}">
                <a16:creationId xmlns:a16="http://schemas.microsoft.com/office/drawing/2014/main" id="{DB87ECA4-B08A-4A4E-B627-FB1665A18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589588"/>
            <a:ext cx="795972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1463" indent="-271463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s-ES_tradnl" altLang="es-ES" sz="1600" b="0" i="1" dirty="0">
                <a:solidFill>
                  <a:schemeClr val="tx1"/>
                </a:solidFill>
              </a:rPr>
              <a:t>(*) Superficie realmente disponible (m</a:t>
            </a:r>
            <a:r>
              <a:rPr lang="es-ES_tradnl" altLang="es-ES" sz="1600" b="0" i="1" baseline="30000" dirty="0">
                <a:solidFill>
                  <a:schemeClr val="tx1"/>
                </a:solidFill>
              </a:rPr>
              <a:t>2</a:t>
            </a:r>
            <a:r>
              <a:rPr lang="es-ES_tradnl" altLang="es-ES" sz="1600" b="0" i="1" dirty="0">
                <a:solidFill>
                  <a:schemeClr val="tx1"/>
                </a:solidFill>
              </a:rPr>
              <a:t>) evitando sombras en 4 horas centrales del día, permitiendo paso para mantenimiento, etc.</a:t>
            </a:r>
          </a:p>
        </p:txBody>
      </p:sp>
      <p:sp>
        <p:nvSpPr>
          <p:cNvPr id="23558" name="7 Rectángulo">
            <a:extLst>
              <a:ext uri="{FF2B5EF4-FFF2-40B4-BE49-F238E27FC236}">
                <a16:creationId xmlns:a16="http://schemas.microsoft.com/office/drawing/2014/main" id="{F3C6CCB0-E584-4211-888C-14FD4EE59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1628775"/>
            <a:ext cx="28336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_tradnl" altLang="es-ES" u="sng">
                <a:solidFill>
                  <a:schemeClr val="accent2"/>
                </a:solidFill>
              </a:rPr>
              <a:t>Datos cada superficie</a:t>
            </a:r>
          </a:p>
        </p:txBody>
      </p:sp>
      <p:graphicFrame>
        <p:nvGraphicFramePr>
          <p:cNvPr id="9" name="8 Tabla">
            <a:extLst>
              <a:ext uri="{FF2B5EF4-FFF2-40B4-BE49-F238E27FC236}">
                <a16:creationId xmlns:a16="http://schemas.microsoft.com/office/drawing/2014/main" id="{ACAE7F14-D1BA-4BB6-BC73-881B4C4F56A8}"/>
              </a:ext>
            </a:extLst>
          </p:cNvPr>
          <p:cNvGraphicFramePr>
            <a:graphicFrameLocks noGrp="1"/>
          </p:cNvGraphicFramePr>
          <p:nvPr/>
        </p:nvGraphicFramePr>
        <p:xfrm>
          <a:off x="827088" y="2060575"/>
          <a:ext cx="7319961" cy="3338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5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Superficie</a:t>
                      </a: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Área total (m</a:t>
                      </a:r>
                      <a:r>
                        <a:rPr lang="es-ES" sz="1400" baseline="30000" dirty="0">
                          <a:solidFill>
                            <a:schemeClr val="accent2"/>
                          </a:solidFill>
                        </a:rPr>
                        <a:t>2</a:t>
                      </a:r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)</a:t>
                      </a: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Orientación (º)</a:t>
                      </a: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Inclinación (º)</a:t>
                      </a: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Características</a:t>
                      </a: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Pérdidas por orientación (%)</a:t>
                      </a: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Pérdidas por inclinación</a:t>
                      </a:r>
                      <a:r>
                        <a:rPr lang="es-ES" sz="1400" baseline="0" dirty="0">
                          <a:solidFill>
                            <a:schemeClr val="accent2"/>
                          </a:solidFill>
                        </a:rPr>
                        <a:t> (%)</a:t>
                      </a:r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Pérdidas</a:t>
                      </a:r>
                      <a:r>
                        <a:rPr lang="es-ES" sz="1400" baseline="0" dirty="0">
                          <a:solidFill>
                            <a:schemeClr val="accent2"/>
                          </a:solidFill>
                        </a:rPr>
                        <a:t> globales (%)</a:t>
                      </a:r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Superficie neta disponible* (m</a:t>
                      </a:r>
                      <a:r>
                        <a:rPr lang="es-ES" sz="1400" baseline="30000" dirty="0">
                          <a:solidFill>
                            <a:schemeClr val="accent2"/>
                          </a:solidFill>
                        </a:rPr>
                        <a:t>2</a:t>
                      </a:r>
                      <a:r>
                        <a:rPr lang="es-ES" sz="1400" dirty="0">
                          <a:solidFill>
                            <a:schemeClr val="accent2"/>
                          </a:solidFill>
                        </a:rPr>
                        <a:t>)</a:t>
                      </a: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1438" marR="91438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611" name="9 Rectángulo">
            <a:extLst>
              <a:ext uri="{FF2B5EF4-FFF2-40B4-BE49-F238E27FC236}">
                <a16:creationId xmlns:a16="http://schemas.microsoft.com/office/drawing/2014/main" id="{D1469126-7E87-4559-843E-76CF799FE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308725"/>
            <a:ext cx="78486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1463" indent="-271463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s-ES_tradnl" altLang="es-ES" sz="1600" b="0" i="1" dirty="0">
                <a:solidFill>
                  <a:schemeClr val="tx1"/>
                </a:solidFill>
              </a:rPr>
              <a:t>Para cada superficie adjuntar gráfico de estudio de sombreado</a:t>
            </a:r>
            <a:endParaRPr lang="es-ES" altLang="es-ES" sz="1600" b="0" i="1" dirty="0">
              <a:solidFill>
                <a:schemeClr val="tx1"/>
              </a:solidFill>
            </a:endParaRPr>
          </a:p>
        </p:txBody>
      </p:sp>
      <p:sp>
        <p:nvSpPr>
          <p:cNvPr id="23612" name="CuadroTexto 10">
            <a:extLst>
              <a:ext uri="{FF2B5EF4-FFF2-40B4-BE49-F238E27FC236}">
                <a16:creationId xmlns:a16="http://schemas.microsoft.com/office/drawing/2014/main" id="{0913D618-867C-41F4-8FCE-1F068CEDE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7F622FA9-18D8-4D76-9A00-D41F92ED0155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12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Text Box 2">
            <a:extLst>
              <a:ext uri="{FF2B5EF4-FFF2-40B4-BE49-F238E27FC236}">
                <a16:creationId xmlns:a16="http://schemas.microsoft.com/office/drawing/2014/main" id="{80EFF5B8-435C-4C2C-BB0E-86E6A0431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91" y="1268760"/>
            <a:ext cx="8392417" cy="4838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  <a:defRPr/>
            </a:pPr>
            <a:r>
              <a:rPr lang="es-ES" sz="1800" b="0" i="1" dirty="0">
                <a:solidFill>
                  <a:schemeClr val="tx1"/>
                </a:solidFill>
              </a:rPr>
              <a:t>Establecer la potencia fotovoltaica a instalar según el criterio más restrictivo: </a:t>
            </a:r>
          </a:p>
          <a:p>
            <a:pPr eaLnBrk="1" hangingPunct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  <a:defRPr/>
            </a:pPr>
            <a:r>
              <a:rPr lang="es-ES" sz="1800" b="0" i="1" dirty="0">
                <a:solidFill>
                  <a:schemeClr val="accent2"/>
                </a:solidFill>
              </a:rPr>
              <a:t> Normativa (CTE, ordenanzas solares, etc.) si aplica</a:t>
            </a:r>
          </a:p>
          <a:p>
            <a:pPr eaLnBrk="1" hangingPunct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  <a:defRPr/>
            </a:pPr>
            <a:r>
              <a:rPr lang="es-ES" sz="1800" b="0" i="1" dirty="0">
                <a:solidFill>
                  <a:schemeClr val="accent2"/>
                </a:solidFill>
              </a:rPr>
              <a:t> Superficie disponible</a:t>
            </a:r>
          </a:p>
          <a:p>
            <a:pPr eaLnBrk="1" hangingPunct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  <a:defRPr/>
            </a:pPr>
            <a:r>
              <a:rPr lang="es-ES" sz="1800" b="0" i="1" dirty="0">
                <a:solidFill>
                  <a:schemeClr val="accent2"/>
                </a:solidFill>
              </a:rPr>
              <a:t> Capacidad de inversión</a:t>
            </a:r>
          </a:p>
          <a:p>
            <a:pPr marL="261938" indent="-261938" eaLnBrk="1" hangingPunct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  <a:defRPr/>
            </a:pPr>
            <a:r>
              <a:rPr lang="es-ES" sz="1800" b="0" i="1" dirty="0">
                <a:solidFill>
                  <a:schemeClr val="accent2"/>
                </a:solidFill>
              </a:rPr>
              <a:t>Potencia permitida por el punto de conexión </a:t>
            </a:r>
          </a:p>
          <a:p>
            <a:pPr marL="539750" lvl="1" indent="-269875" eaLnBrk="1" hangingPunct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s-ES" sz="1600" b="0" i="1" dirty="0">
                <a:solidFill>
                  <a:schemeClr val="tx1"/>
                </a:solidFill>
              </a:rPr>
              <a:t>Monofásico (caso español): Potencia eléctrica ≤ 15 kW</a:t>
            </a:r>
          </a:p>
          <a:p>
            <a:pPr marL="539750" lvl="1" indent="-269875" eaLnBrk="1" hangingPunct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s-ES" sz="1600" b="0" i="1" dirty="0">
                <a:solidFill>
                  <a:schemeClr val="tx1"/>
                </a:solidFill>
              </a:rPr>
              <a:t>Trifásico en baja tensión (caso español): </a:t>
            </a:r>
            <a:r>
              <a:rPr lang="es-ES_tradnl" sz="1600" b="0" dirty="0">
                <a:solidFill>
                  <a:schemeClr val="tx1"/>
                </a:solidFill>
                <a:sym typeface="Wingdings 3" pitchFamily="18" charset="2"/>
              </a:rPr>
              <a:t>P</a:t>
            </a:r>
            <a:r>
              <a:rPr lang="es-ES_tradnl" sz="1600" b="0" baseline="-25000" dirty="0">
                <a:solidFill>
                  <a:schemeClr val="tx1"/>
                </a:solidFill>
                <a:sym typeface="Wingdings 3" pitchFamily="18" charset="2"/>
              </a:rPr>
              <a:t>N</a:t>
            </a:r>
            <a:r>
              <a:rPr lang="es-ES_tradnl" sz="1600" b="0" dirty="0">
                <a:solidFill>
                  <a:schemeClr val="tx1"/>
                </a:solidFill>
                <a:sym typeface="Wingdings 3" pitchFamily="18" charset="2"/>
              </a:rPr>
              <a:t> </a:t>
            </a:r>
            <a:r>
              <a:rPr lang="es-ES_tradnl" sz="1600" b="0" dirty="0">
                <a:solidFill>
                  <a:schemeClr val="tx1"/>
                </a:solidFill>
                <a:sym typeface="Symbol"/>
              </a:rPr>
              <a:t></a:t>
            </a:r>
            <a:r>
              <a:rPr lang="es-ES_tradnl" sz="1600" b="0" dirty="0">
                <a:solidFill>
                  <a:schemeClr val="tx1"/>
                </a:solidFill>
                <a:sym typeface="Wingdings 3" pitchFamily="18" charset="2"/>
              </a:rPr>
              <a:t> 100 kW</a:t>
            </a:r>
          </a:p>
          <a:p>
            <a:pPr marL="539750" lvl="1" indent="-269875" eaLnBrk="1" hangingPunct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s-ES_tradnl" sz="1600" b="0" dirty="0">
                <a:solidFill>
                  <a:schemeClr val="tx1"/>
                </a:solidFill>
                <a:sym typeface="Wingdings 3" pitchFamily="18" charset="2"/>
              </a:rPr>
              <a:t>Relación entre la potencia del sistema fotovoltaico y la contratada por el usuario</a:t>
            </a:r>
          </a:p>
          <a:p>
            <a:pPr marL="539750" lvl="1" indent="-269875" eaLnBrk="1" hangingPunct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s-ES_tradnl" sz="1600" b="0" dirty="0">
                <a:solidFill>
                  <a:schemeClr val="tx1"/>
                </a:solidFill>
                <a:sym typeface="Wingdings 3" pitchFamily="18" charset="2"/>
              </a:rPr>
              <a:t>Relación entre la potencia del sistema fotovoltaico y </a:t>
            </a:r>
            <a:r>
              <a:rPr lang="es-ES" sz="1600" b="0" i="1" dirty="0">
                <a:solidFill>
                  <a:schemeClr val="tx1"/>
                </a:solidFill>
              </a:rPr>
              <a:t>la capacidad de transporte de la red interna del usuario o de la red de distribución</a:t>
            </a:r>
            <a:endParaRPr lang="es-ES" sz="1600" b="0" baseline="-25000" dirty="0">
              <a:solidFill>
                <a:schemeClr val="tx1"/>
              </a:solidFill>
              <a:sym typeface="Wingdings 3" pitchFamily="18" charset="2"/>
            </a:endParaRPr>
          </a:p>
          <a:p>
            <a:pPr marL="263525" lvl="2" indent="-263525" eaLnBrk="1" hangingPunct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  <a:tabLst>
                <a:tab pos="806450" algn="l"/>
              </a:tabLst>
              <a:defRPr/>
            </a:pPr>
            <a:r>
              <a:rPr lang="es-ES" sz="1800" b="0" i="1" dirty="0">
                <a:solidFill>
                  <a:schemeClr val="accent2"/>
                </a:solidFill>
              </a:rPr>
              <a:t>Porcentaje de autoconsumo: </a:t>
            </a:r>
            <a:r>
              <a:rPr lang="es-ES" sz="1800" b="0" i="1" dirty="0">
                <a:solidFill>
                  <a:schemeClr val="tx1"/>
                </a:solidFill>
              </a:rPr>
              <a:t>estudio de los perfiles de demanda y generación</a:t>
            </a:r>
            <a:endParaRPr lang="es-ES" sz="1800" b="0" baseline="-25000" dirty="0">
              <a:solidFill>
                <a:schemeClr val="tx1"/>
              </a:solidFill>
              <a:sym typeface="Wingdings 3" pitchFamily="18" charset="2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854F057-76A9-47E2-A3ED-AD62C720A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30969"/>
            <a:ext cx="6477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es-ES_tradnl" altLang="es-ES" sz="1600" dirty="0">
                <a:solidFill>
                  <a:schemeClr val="accent2"/>
                </a:solidFill>
              </a:rPr>
              <a:t>CÁLCULOS</a:t>
            </a:r>
            <a:endParaRPr lang="es-ES" altLang="es-ES" sz="1600" dirty="0">
              <a:solidFill>
                <a:schemeClr val="accent2"/>
              </a:solidFill>
            </a:endParaRPr>
          </a:p>
        </p:txBody>
      </p:sp>
      <p:grpSp>
        <p:nvGrpSpPr>
          <p:cNvPr id="27652" name="3 Grupo">
            <a:extLst>
              <a:ext uri="{FF2B5EF4-FFF2-40B4-BE49-F238E27FC236}">
                <a16:creationId xmlns:a16="http://schemas.microsoft.com/office/drawing/2014/main" id="{20C8096F-BF4E-4537-89D9-F65957D1C1F5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27654" name="4 Elipse">
              <a:extLst>
                <a:ext uri="{FF2B5EF4-FFF2-40B4-BE49-F238E27FC236}">
                  <a16:creationId xmlns:a16="http://schemas.microsoft.com/office/drawing/2014/main" id="{493F804A-52EA-4093-B137-F5D4BCAD7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27655" name="5 Flecha derecha">
              <a:extLst>
                <a:ext uri="{FF2B5EF4-FFF2-40B4-BE49-F238E27FC236}">
                  <a16:creationId xmlns:a16="http://schemas.microsoft.com/office/drawing/2014/main" id="{142CCD9A-C3FC-4085-B002-18D1E5D55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27653" name="CuadroTexto 6">
            <a:extLst>
              <a:ext uri="{FF2B5EF4-FFF2-40B4-BE49-F238E27FC236}">
                <a16:creationId xmlns:a16="http://schemas.microsoft.com/office/drawing/2014/main" id="{EE258515-3144-432E-B2BC-2896A92AE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0EA49808-C00C-4D97-9C14-74B39249A480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13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AA771CB-0651-4316-9A9F-DB8480D92F9E}"/>
              </a:ext>
            </a:extLst>
          </p:cNvPr>
          <p:cNvSpPr/>
          <p:nvPr/>
        </p:nvSpPr>
        <p:spPr>
          <a:xfrm>
            <a:off x="1268889" y="641350"/>
            <a:ext cx="66062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s-ES_tradnl" dirty="0">
                <a:solidFill>
                  <a:schemeClr val="accent2"/>
                </a:solidFill>
              </a:rPr>
              <a:t>Determinación de la potencia del campo fotovoltaico</a:t>
            </a:r>
            <a:r>
              <a:rPr lang="es-ES_tradnl" dirty="0">
                <a:solidFill>
                  <a:schemeClr val="tx1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77">
            <a:extLst>
              <a:ext uri="{FF2B5EF4-FFF2-40B4-BE49-F238E27FC236}">
                <a16:creationId xmlns:a16="http://schemas.microsoft.com/office/drawing/2014/main" id="{CA347989-481E-4D51-AA5D-6F33A3CB3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260350"/>
            <a:ext cx="7417197" cy="797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52500" indent="-9525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marL="0" indent="0"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s-ES_tradnl" altLang="es-ES" dirty="0">
                <a:solidFill>
                  <a:schemeClr val="accent2"/>
                </a:solidFill>
              </a:rPr>
              <a:t>Información disponible sobre el consumo y las tarifas eléctricas existentes</a:t>
            </a:r>
            <a:endParaRPr lang="es-ES" altLang="es-ES" dirty="0">
              <a:solidFill>
                <a:schemeClr val="accent2"/>
              </a:solidFill>
            </a:endParaRPr>
          </a:p>
        </p:txBody>
      </p:sp>
      <p:grpSp>
        <p:nvGrpSpPr>
          <p:cNvPr id="28675" name="6 Grupo">
            <a:extLst>
              <a:ext uri="{FF2B5EF4-FFF2-40B4-BE49-F238E27FC236}">
                <a16:creationId xmlns:a16="http://schemas.microsoft.com/office/drawing/2014/main" id="{EACC9346-8E27-45A0-873D-49372DF41CC4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28688" name="7 Elipse">
              <a:extLst>
                <a:ext uri="{FF2B5EF4-FFF2-40B4-BE49-F238E27FC236}">
                  <a16:creationId xmlns:a16="http://schemas.microsoft.com/office/drawing/2014/main" id="{4F5C35F2-D99D-47CA-BE0C-5FB0A7E0B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28689" name="8 Flecha derecha">
              <a:extLst>
                <a:ext uri="{FF2B5EF4-FFF2-40B4-BE49-F238E27FC236}">
                  <a16:creationId xmlns:a16="http://schemas.microsoft.com/office/drawing/2014/main" id="{63B0F4AF-1C7E-4276-9AC9-936C11477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pSp>
        <p:nvGrpSpPr>
          <p:cNvPr id="28676" name="6 Grupo">
            <a:extLst>
              <a:ext uri="{FF2B5EF4-FFF2-40B4-BE49-F238E27FC236}">
                <a16:creationId xmlns:a16="http://schemas.microsoft.com/office/drawing/2014/main" id="{992091C5-BCB1-49AC-A50D-F94094FCD241}"/>
              </a:ext>
            </a:extLst>
          </p:cNvPr>
          <p:cNvGrpSpPr>
            <a:grpSpLocks/>
          </p:cNvGrpSpPr>
          <p:nvPr/>
        </p:nvGrpSpPr>
        <p:grpSpPr bwMode="auto">
          <a:xfrm>
            <a:off x="1799430" y="4668862"/>
            <a:ext cx="936625" cy="1568450"/>
            <a:chOff x="395536" y="908720"/>
            <a:chExt cx="936104" cy="1569660"/>
          </a:xfrm>
        </p:grpSpPr>
        <p:sp>
          <p:nvSpPr>
            <p:cNvPr id="28686" name="13 Rectángulo">
              <a:extLst>
                <a:ext uri="{FF2B5EF4-FFF2-40B4-BE49-F238E27FC236}">
                  <a16:creationId xmlns:a16="http://schemas.microsoft.com/office/drawing/2014/main" id="{9684A91F-D2BB-4D2B-9456-63988A0B8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28687" name="14 Elipse">
              <a:extLst>
                <a:ext uri="{FF2B5EF4-FFF2-40B4-BE49-F238E27FC236}">
                  <a16:creationId xmlns:a16="http://schemas.microsoft.com/office/drawing/2014/main" id="{1C7BAC49-5687-4479-A855-8F7495DD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16" name="15 Tabla">
            <a:extLst>
              <a:ext uri="{FF2B5EF4-FFF2-40B4-BE49-F238E27FC236}">
                <a16:creationId xmlns:a16="http://schemas.microsoft.com/office/drawing/2014/main" id="{5D7B936E-D0C3-42F6-976C-18A1F4C2A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791719"/>
              </p:ext>
            </p:extLst>
          </p:nvPr>
        </p:nvGraphicFramePr>
        <p:xfrm>
          <a:off x="1799430" y="4809310"/>
          <a:ext cx="5545137" cy="1042987"/>
        </p:xfrm>
        <a:graphic>
          <a:graphicData uri="http://schemas.openxmlformats.org/drawingml/2006/table">
            <a:tbl>
              <a:tblPr/>
              <a:tblGrid>
                <a:gridCol w="1008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987">
                <a:tc>
                  <a:txBody>
                    <a:bodyPr/>
                    <a:lstStyle/>
                    <a:p>
                      <a:endParaRPr lang="es-ES" sz="1800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s-ES_tradnl" sz="1600" b="0" i="1" dirty="0">
                          <a:solidFill>
                            <a:schemeClr val="tx1"/>
                          </a:solidFill>
                        </a:rPr>
                        <a:t>Adjuntar </a:t>
                      </a:r>
                      <a:r>
                        <a:rPr lang="es-ES_tradnl" sz="1600" b="0" i="1" dirty="0" smtClean="0">
                          <a:solidFill>
                            <a:schemeClr val="tx1"/>
                          </a:solidFill>
                        </a:rPr>
                        <a:t>perfil</a:t>
                      </a:r>
                      <a:r>
                        <a:rPr lang="es-ES_tradnl" sz="1600" b="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_tradnl" sz="1600" b="0" i="1" baseline="0" dirty="0">
                          <a:solidFill>
                            <a:schemeClr val="tx1"/>
                          </a:solidFill>
                        </a:rPr>
                        <a:t>de </a:t>
                      </a:r>
                      <a:r>
                        <a:rPr lang="es-ES_tradnl" sz="1600" b="0" i="1" baseline="0" dirty="0" smtClean="0">
                          <a:solidFill>
                            <a:schemeClr val="tx1"/>
                          </a:solidFill>
                        </a:rPr>
                        <a:t>consumo horario para días característicos, por ejemplo, días laborales, días de fin de semana, etc. </a:t>
                      </a:r>
                      <a:endParaRPr lang="es-ES" sz="16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685" name="CuadroTexto 9">
            <a:extLst>
              <a:ext uri="{FF2B5EF4-FFF2-40B4-BE49-F238E27FC236}">
                <a16:creationId xmlns:a16="http://schemas.microsoft.com/office/drawing/2014/main" id="{762572BE-B0C7-4F44-9DA9-83D4F53FA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4729E800-6AF9-429A-9D61-535B4D93F85D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14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C2AC19C2-56CD-4385-9625-49831EBEF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18" y="1310114"/>
            <a:ext cx="7345363" cy="2478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ES_tradnl" altLang="es-ES" sz="1600" dirty="0">
                <a:solidFill>
                  <a:schemeClr val="accent2"/>
                </a:solidFill>
              </a:rPr>
              <a:t>Propiedad: ………………..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ES_tradnl" altLang="es-ES" sz="1600" dirty="0">
                <a:solidFill>
                  <a:schemeClr val="accent2"/>
                </a:solidFill>
              </a:rPr>
              <a:t>Uso: ……………… </a:t>
            </a:r>
            <a:endParaRPr lang="es-ES_tradnl" altLang="es-ES" sz="1600" dirty="0" smtClean="0">
              <a:solidFill>
                <a:schemeClr val="accent2"/>
              </a:solidFill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ES_tradnl" altLang="es-ES" sz="1600" dirty="0" smtClean="0">
                <a:solidFill>
                  <a:schemeClr val="accent2"/>
                </a:solidFill>
              </a:rPr>
              <a:t>Red monofásica o trifásica:……………..</a:t>
            </a:r>
            <a:endParaRPr lang="es-ES_tradnl" altLang="es-ES" sz="1600" dirty="0">
              <a:solidFill>
                <a:schemeClr val="accent2"/>
              </a:solidFill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ES_tradnl" altLang="es-ES" sz="1600" dirty="0">
                <a:solidFill>
                  <a:schemeClr val="accent2"/>
                </a:solidFill>
              </a:rPr>
              <a:t>Potencia contratada: ……………….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ES_tradnl" altLang="es-ES" sz="1600" dirty="0">
                <a:solidFill>
                  <a:schemeClr val="accent2"/>
                </a:solidFill>
              </a:rPr>
              <a:t>Tipo de </a:t>
            </a:r>
            <a:r>
              <a:rPr lang="es-ES_tradnl" altLang="es-ES" sz="1600" dirty="0" smtClean="0">
                <a:solidFill>
                  <a:schemeClr val="accent2"/>
                </a:solidFill>
              </a:rPr>
              <a:t>tarifa eléctrica: </a:t>
            </a:r>
            <a:r>
              <a:rPr lang="es-ES_tradnl" altLang="es-ES" sz="1600" dirty="0">
                <a:solidFill>
                  <a:schemeClr val="accent2"/>
                </a:solidFill>
              </a:rPr>
              <a:t>………………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ES_tradnl" altLang="es-ES" sz="1600" dirty="0" smtClean="0">
                <a:solidFill>
                  <a:schemeClr val="accent2"/>
                </a:solidFill>
              </a:rPr>
              <a:t>Periodos de la tarifa: …………….</a:t>
            </a:r>
            <a:endParaRPr lang="es-ES_tradnl" altLang="es-ES" sz="1600" dirty="0">
              <a:solidFill>
                <a:schemeClr val="accent2"/>
              </a:solidFill>
            </a:endParaRPr>
          </a:p>
        </p:txBody>
      </p:sp>
      <p:sp>
        <p:nvSpPr>
          <p:cNvPr id="12" name="Text Box 77">
            <a:extLst>
              <a:ext uri="{FF2B5EF4-FFF2-40B4-BE49-F238E27FC236}">
                <a16:creationId xmlns:a16="http://schemas.microsoft.com/office/drawing/2014/main" id="{CA347989-481E-4D51-AA5D-6F33A3CB3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6" y="3980297"/>
            <a:ext cx="7993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52500" indent="-9525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 dirty="0">
                <a:solidFill>
                  <a:schemeClr val="accent2"/>
                </a:solidFill>
              </a:rPr>
              <a:t>Perfiles de </a:t>
            </a:r>
            <a:r>
              <a:rPr lang="es-ES_tradnl" altLang="es-ES" dirty="0" smtClean="0">
                <a:solidFill>
                  <a:schemeClr val="accent2"/>
                </a:solidFill>
              </a:rPr>
              <a:t>consumo diarios para días representativos</a:t>
            </a:r>
            <a:endParaRPr lang="es-ES" altLang="es-E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6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ángulo 4">
            <a:extLst>
              <a:ext uri="{FF2B5EF4-FFF2-40B4-BE49-F238E27FC236}">
                <a16:creationId xmlns:a16="http://schemas.microsoft.com/office/drawing/2014/main" id="{4DEC3578-DBFB-4C05-8A57-0B561A7F4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45" y="1428707"/>
            <a:ext cx="8593708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altLang="es-ES" sz="1800" dirty="0" smtClean="0">
                <a:solidFill>
                  <a:schemeClr val="tx1"/>
                </a:solidFill>
              </a:rPr>
              <a:t>Ranking </a:t>
            </a:r>
            <a:r>
              <a:rPr lang="es-ES" altLang="es-ES" sz="1800" dirty="0">
                <a:solidFill>
                  <a:schemeClr val="tx1"/>
                </a:solidFill>
              </a:rPr>
              <a:t>de </a:t>
            </a:r>
            <a:r>
              <a:rPr lang="es-ES" altLang="es-ES" sz="1800" dirty="0" smtClean="0">
                <a:solidFill>
                  <a:schemeClr val="tx1"/>
                </a:solidFill>
              </a:rPr>
              <a:t>módulos </a:t>
            </a:r>
            <a:r>
              <a:rPr lang="es-ES" altLang="es-ES" sz="1800" dirty="0">
                <a:solidFill>
                  <a:schemeClr val="tx1"/>
                </a:solidFill>
              </a:rPr>
              <a:t>FV:</a:t>
            </a:r>
          </a:p>
          <a:p>
            <a:endParaRPr lang="es-ES" altLang="es-ES" sz="1800" dirty="0">
              <a:solidFill>
                <a:schemeClr val="tx1"/>
              </a:solidFill>
            </a:endParaRPr>
          </a:p>
          <a:p>
            <a:r>
              <a:rPr lang="es-ES" sz="1800" dirty="0">
                <a:hlinkClick r:id="rId2"/>
              </a:rPr>
              <a:t>https://solaranalytica.com/tier-1-solar-panels/</a:t>
            </a:r>
            <a:endParaRPr lang="es-ES" sz="1800" dirty="0"/>
          </a:p>
          <a:p>
            <a:endParaRPr lang="es-ES" sz="1800" dirty="0" smtClean="0">
              <a:hlinkClick r:id="rId3">
                <a:extLst>
                  <a:ext uri="{A12FA001-AC4F-418D-AE19-62706E023703}">
                    <ahyp:hlinkClr xmlns:ahyp="http://schemas.microsoft.com/office/drawing/2018/hyperlinkcolor" xmlns="" val="tx"/>
                  </a:ext>
                </a:extLst>
              </a:hlinkClick>
            </a:endParaRPr>
          </a:p>
          <a:p>
            <a:r>
              <a:rPr lang="es-ES" sz="1800" dirty="0" smtClean="0"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</a:t>
            </a:r>
            <a:r>
              <a:rPr lang="es-ES" sz="1800" dirty="0"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://news.energysage.com/best-solar-panels-complete-ranking/</a:t>
            </a:r>
            <a:endParaRPr lang="es-ES" altLang="es-ES" sz="1800" dirty="0"/>
          </a:p>
          <a:p>
            <a:endParaRPr lang="es-ES" altLang="es-ES" sz="1800" dirty="0"/>
          </a:p>
          <a:p>
            <a:r>
              <a:rPr lang="es-ES" sz="1800" dirty="0" smtClean="0"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https://www.cleanenergyreviews.info/blog/best-solar-panels-review</a:t>
            </a:r>
            <a:endParaRPr lang="es-ES" sz="1800" dirty="0"/>
          </a:p>
          <a:p>
            <a:endParaRPr lang="es-ES" altLang="es-ES" sz="1800" dirty="0"/>
          </a:p>
          <a:p>
            <a:r>
              <a:rPr lang="es-ES" sz="1800" dirty="0">
                <a:hlinkClick r:id="rId5"/>
              </a:rPr>
              <a:t>https://www.semprius.com/best-solar-panel-manufacturers</a:t>
            </a:r>
            <a:r>
              <a:rPr lang="es-ES" sz="1800" dirty="0" smtClean="0">
                <a:hlinkClick r:id="rId5"/>
              </a:rPr>
              <a:t>/</a:t>
            </a:r>
            <a:endParaRPr lang="es-ES" sz="1800" dirty="0" smtClean="0"/>
          </a:p>
          <a:p>
            <a:endParaRPr lang="es-ES" sz="1800" dirty="0"/>
          </a:p>
          <a:p>
            <a:r>
              <a:rPr lang="es-ES" sz="1800" dirty="0" smtClean="0">
                <a:hlinkClick r:id="rId6"/>
              </a:rPr>
              <a:t>https</a:t>
            </a:r>
            <a:r>
              <a:rPr lang="es-ES" sz="1800" dirty="0">
                <a:hlinkClick r:id="rId6"/>
              </a:rPr>
              <a:t>://</a:t>
            </a:r>
            <a:r>
              <a:rPr lang="es-ES" sz="1800" dirty="0" smtClean="0">
                <a:hlinkClick r:id="rId6"/>
              </a:rPr>
              <a:t>www.blackridgeresearch.com/blog/top-solar-pv-module-panel-manufacturers-companies-suppliers-producers</a:t>
            </a:r>
            <a:endParaRPr lang="es-ES" sz="1800" dirty="0" smtClean="0"/>
          </a:p>
          <a:p>
            <a:endParaRPr lang="es-ES" sz="1800" dirty="0"/>
          </a:p>
          <a:p>
            <a:r>
              <a:rPr lang="es-ES" sz="1800" dirty="0">
                <a:hlinkClick r:id="rId7"/>
              </a:rPr>
              <a:t>https://www.solarfeeds.com/mag/top-bankable-modules-based-on-pv-tech-research</a:t>
            </a:r>
            <a:r>
              <a:rPr lang="es-ES" sz="1800" dirty="0" smtClean="0">
                <a:hlinkClick r:id="rId7"/>
              </a:rPr>
              <a:t>/</a:t>
            </a:r>
            <a:endParaRPr lang="es-ES" sz="1800" dirty="0" smtClean="0"/>
          </a:p>
          <a:p>
            <a:endParaRPr lang="es-ES" sz="1800" dirty="0" smtClean="0"/>
          </a:p>
          <a:p>
            <a:r>
              <a:rPr lang="es-ES" sz="1800" dirty="0">
                <a:hlinkClick r:id="rId8"/>
              </a:rPr>
              <a:t>https://</a:t>
            </a:r>
            <a:r>
              <a:rPr lang="es-ES" sz="1800" dirty="0" smtClean="0">
                <a:hlinkClick r:id="rId8"/>
              </a:rPr>
              <a:t>taiyangnews.info/top-modules/top-solar-modules-listing-june-2024/</a:t>
            </a:r>
            <a:endParaRPr lang="es-ES" sz="1800" dirty="0" smtClean="0"/>
          </a:p>
          <a:p>
            <a:endParaRPr lang="es-ES" sz="1800" dirty="0"/>
          </a:p>
        </p:txBody>
      </p:sp>
      <p:sp>
        <p:nvSpPr>
          <p:cNvPr id="19459" name="Rectángulo 5">
            <a:extLst>
              <a:ext uri="{FF2B5EF4-FFF2-40B4-BE49-F238E27FC236}">
                <a16:creationId xmlns:a16="http://schemas.microsoft.com/office/drawing/2014/main" id="{182C8F67-2DE3-4C87-AD81-24C8D4FFE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99" y="939544"/>
            <a:ext cx="7823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altLang="es-ES" sz="1800" dirty="0">
                <a:solidFill>
                  <a:srgbClr val="990033"/>
                </a:solidFill>
                <a:latin typeface="+mn-lt"/>
              </a:rPr>
              <a:t>Posición del fabricante </a:t>
            </a:r>
            <a:r>
              <a:rPr lang="es-ES" altLang="es-ES" sz="1800" dirty="0" smtClean="0">
                <a:solidFill>
                  <a:srgbClr val="990033"/>
                </a:solidFill>
                <a:latin typeface="+mn-lt"/>
              </a:rPr>
              <a:t>o/y </a:t>
            </a:r>
            <a:r>
              <a:rPr lang="es-ES" altLang="es-ES" sz="1800" dirty="0">
                <a:solidFill>
                  <a:srgbClr val="990033"/>
                </a:solidFill>
                <a:latin typeface="+mn-lt"/>
              </a:rPr>
              <a:t>del módulo en estudios existentes</a:t>
            </a:r>
            <a:endParaRPr lang="es-ES" altLang="es-ES" sz="1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DA0F2CA4-74D5-4EE1-A6C6-95536123C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2" y="176529"/>
            <a:ext cx="388937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600">
                <a:solidFill>
                  <a:schemeClr val="accent2"/>
                </a:solidFill>
              </a:rPr>
              <a:t>Selección del módulo fotovoltaico</a:t>
            </a:r>
            <a:endParaRPr lang="es-ES" altLang="es-ES" sz="1600">
              <a:solidFill>
                <a:schemeClr val="accent2"/>
              </a:solidFill>
            </a:endParaRPr>
          </a:p>
        </p:txBody>
      </p:sp>
      <p:grpSp>
        <p:nvGrpSpPr>
          <p:cNvPr id="5" name="8 Grupo">
            <a:extLst>
              <a:ext uri="{FF2B5EF4-FFF2-40B4-BE49-F238E27FC236}">
                <a16:creationId xmlns:a16="http://schemas.microsoft.com/office/drawing/2014/main" id="{EBBC9AC3-65C8-41AC-8BC2-87C642BC4EA2}"/>
              </a:ext>
            </a:extLst>
          </p:cNvPr>
          <p:cNvGrpSpPr>
            <a:grpSpLocks/>
          </p:cNvGrpSpPr>
          <p:nvPr/>
        </p:nvGrpSpPr>
        <p:grpSpPr bwMode="auto">
          <a:xfrm>
            <a:off x="-107950" y="-242888"/>
            <a:ext cx="935038" cy="1568451"/>
            <a:chOff x="395536" y="908720"/>
            <a:chExt cx="936104" cy="1569660"/>
          </a:xfrm>
        </p:grpSpPr>
        <p:sp>
          <p:nvSpPr>
            <p:cNvPr id="6" name="16 Rectángulo">
              <a:extLst>
                <a:ext uri="{FF2B5EF4-FFF2-40B4-BE49-F238E27FC236}">
                  <a16:creationId xmlns:a16="http://schemas.microsoft.com/office/drawing/2014/main" id="{1F961851-6573-4E45-8F1B-959B53688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7" name="17 Elipse">
              <a:extLst>
                <a:ext uri="{FF2B5EF4-FFF2-40B4-BE49-F238E27FC236}">
                  <a16:creationId xmlns:a16="http://schemas.microsoft.com/office/drawing/2014/main" id="{7893B664-1ABC-4D68-A5D7-33BFA2A7A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</p:spTree>
    <p:extLst>
      <p:ext uri="{BB962C8B-B14F-4D97-AF65-F5344CB8AC3E}">
        <p14:creationId xmlns:p14="http://schemas.microsoft.com/office/powerpoint/2010/main" val="118420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0CE421A8-5833-49FB-B110-530E494A9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19" y="115888"/>
            <a:ext cx="8208485" cy="41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600" dirty="0" smtClean="0">
                <a:solidFill>
                  <a:schemeClr val="accent2"/>
                </a:solidFill>
              </a:rPr>
              <a:t>Justificar el módulo seleccionado</a:t>
            </a:r>
            <a:endParaRPr lang="es-ES" altLang="es-ES" sz="1600" dirty="0">
              <a:solidFill>
                <a:schemeClr val="accent2"/>
              </a:solidFill>
            </a:endParaRPr>
          </a:p>
        </p:txBody>
      </p:sp>
      <p:grpSp>
        <p:nvGrpSpPr>
          <p:cNvPr id="31747" name="4 Grupo">
            <a:extLst>
              <a:ext uri="{FF2B5EF4-FFF2-40B4-BE49-F238E27FC236}">
                <a16:creationId xmlns:a16="http://schemas.microsoft.com/office/drawing/2014/main" id="{0E428F1F-D8B0-4260-A9F8-028A80B8B2DF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31842" name="5 Elipse">
              <a:extLst>
                <a:ext uri="{FF2B5EF4-FFF2-40B4-BE49-F238E27FC236}">
                  <a16:creationId xmlns:a16="http://schemas.microsoft.com/office/drawing/2014/main" id="{55403672-B539-47F5-8E25-6C5D4A53F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31843" name="6 Flecha derecha">
              <a:extLst>
                <a:ext uri="{FF2B5EF4-FFF2-40B4-BE49-F238E27FC236}">
                  <a16:creationId xmlns:a16="http://schemas.microsoft.com/office/drawing/2014/main" id="{43AD424C-6E63-4424-8F27-00774F7F9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31829" name="CuadroTexto 8">
            <a:extLst>
              <a:ext uri="{FF2B5EF4-FFF2-40B4-BE49-F238E27FC236}">
                <a16:creationId xmlns:a16="http://schemas.microsoft.com/office/drawing/2014/main" id="{51DC4749-0CED-458A-AD12-3C7A59F7E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96285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8B738565-1CC2-4501-9652-007E139C3FA1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16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7CF78E38-52B7-4487-8225-E315BAC36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761524"/>
              </p:ext>
            </p:extLst>
          </p:nvPr>
        </p:nvGraphicFramePr>
        <p:xfrm>
          <a:off x="419735" y="1484784"/>
          <a:ext cx="8304052" cy="4676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69950">
                  <a:extLst>
                    <a:ext uri="{9D8B030D-6E8A-4147-A177-3AD203B41FA5}">
                      <a16:colId xmlns:a16="http://schemas.microsoft.com/office/drawing/2014/main" val="3562319444"/>
                    </a:ext>
                  </a:extLst>
                </a:gridCol>
                <a:gridCol w="1185830">
                  <a:extLst>
                    <a:ext uri="{9D8B030D-6E8A-4147-A177-3AD203B41FA5}">
                      <a16:colId xmlns:a16="http://schemas.microsoft.com/office/drawing/2014/main" val="174134708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3296334954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88584655"/>
                    </a:ext>
                  </a:extLst>
                </a:gridCol>
              </a:tblGrid>
              <a:tr h="3858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Característica</a:t>
                      </a:r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técnica</a:t>
                      </a: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Módulo 1</a:t>
                      </a: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Módulo 2</a:t>
                      </a: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Módulo 3</a:t>
                      </a: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299374"/>
                  </a:ext>
                </a:extLst>
              </a:tr>
              <a:tr h="38588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Potencia pico en STC (</a:t>
                      </a:r>
                      <a:r>
                        <a:rPr lang="es-ES" sz="1600" b="0" dirty="0" err="1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Wp</a:t>
                      </a:r>
                      <a:r>
                        <a:rPr lang="es-ES" sz="1600" b="0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es-ES" sz="16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392940"/>
                  </a:ext>
                </a:extLst>
              </a:tr>
              <a:tr h="3858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es-ES" sz="1600" b="0" kern="1200" dirty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Tecnología de célula: </a:t>
                      </a:r>
                      <a:r>
                        <a:rPr lang="es-ES" altLang="es-ES" sz="1600" b="0" kern="1200" dirty="0" smtClean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PERC</a:t>
                      </a:r>
                      <a:r>
                        <a:rPr lang="es-ES" altLang="es-ES" sz="1600" b="0" kern="1200" dirty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es-ES" altLang="es-ES" sz="1600" b="0" kern="1200" dirty="0" smtClean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HJT,</a:t>
                      </a:r>
                      <a:r>
                        <a:rPr lang="es-ES" altLang="es-ES" sz="1600" b="0" kern="1200" baseline="0" dirty="0" smtClean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TOPCON …</a:t>
                      </a:r>
                      <a:endParaRPr lang="es-ES" sz="1600" dirty="0"/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488115"/>
                  </a:ext>
                </a:extLst>
              </a:tr>
              <a:tr h="385885">
                <a:tc>
                  <a:txBody>
                    <a:bodyPr/>
                    <a:lstStyle/>
                    <a:p>
                      <a:r>
                        <a:rPr lang="es-ES" sz="1600" b="0" kern="1200" dirty="0" smtClean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Coeficiente de temperatura</a:t>
                      </a:r>
                      <a:r>
                        <a:rPr lang="es-ES" sz="1600" b="0" kern="1200" baseline="0" dirty="0" smtClean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de la potencia (%/</a:t>
                      </a:r>
                      <a:r>
                        <a:rPr lang="es-ES" sz="1600" b="0" kern="1200" baseline="0" dirty="0" err="1" smtClean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ºC</a:t>
                      </a:r>
                      <a:r>
                        <a:rPr lang="es-ES" sz="1600" b="0" kern="1200" baseline="0" dirty="0" smtClean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s-ES" sz="1600" b="0" kern="120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261370"/>
                  </a:ext>
                </a:extLst>
              </a:tr>
              <a:tr h="3858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es-ES" sz="1600" b="0" dirty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Degradación inducida por luz LID</a:t>
                      </a:r>
                      <a:endParaRPr lang="es-ES" sz="16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9632"/>
                  </a:ext>
                </a:extLst>
              </a:tr>
              <a:tr h="3858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es-ES" sz="1600" b="0" dirty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Degradación inducida por potencial PID</a:t>
                      </a:r>
                      <a:endParaRPr lang="es-ES" sz="16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65423"/>
                  </a:ext>
                </a:extLst>
              </a:tr>
              <a:tr h="38588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Garantía de potencia</a:t>
                      </a: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089986"/>
                  </a:ext>
                </a:extLst>
              </a:tr>
              <a:tr h="38588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Garantía de producto (años)</a:t>
                      </a: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768104"/>
                  </a:ext>
                </a:extLst>
              </a:tr>
              <a:tr h="3858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es-ES" sz="1600" b="0" dirty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Características especiales: bifacial, </a:t>
                      </a:r>
                      <a:r>
                        <a:rPr lang="es-ES" altLang="es-ES" sz="1600" b="0" dirty="0" err="1" smtClean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glass-glass</a:t>
                      </a:r>
                      <a:r>
                        <a:rPr lang="es-ES" altLang="es-ES" sz="1600" b="0" dirty="0" smtClean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,</a:t>
                      </a:r>
                      <a:r>
                        <a:rPr lang="es-ES" altLang="es-ES" sz="1600" b="0" baseline="0" dirty="0" smtClean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 </a:t>
                      </a:r>
                      <a:r>
                        <a:rPr lang="es-ES" altLang="es-ES" sz="1600" b="0" baseline="0" dirty="0" err="1" smtClean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tedlar</a:t>
                      </a:r>
                      <a:r>
                        <a:rPr lang="es-ES" altLang="es-ES" sz="1600" b="0" baseline="0" dirty="0" smtClean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 transparente,</a:t>
                      </a:r>
                      <a:r>
                        <a:rPr lang="es-ES" altLang="es-ES" sz="1600" b="0" dirty="0" smtClean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 </a:t>
                      </a:r>
                      <a:r>
                        <a:rPr lang="es-ES" altLang="es-ES" sz="1600" b="0" dirty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etc.</a:t>
                      </a:r>
                      <a:r>
                        <a:rPr lang="es-ES" sz="1600" b="0" dirty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727197"/>
                  </a:ext>
                </a:extLst>
              </a:tr>
              <a:tr h="38588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 smtClean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Posición del fabricante en ranking…</a:t>
                      </a:r>
                      <a:endParaRPr lang="es-ES" sz="16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195110"/>
                  </a:ext>
                </a:extLst>
              </a:tr>
              <a:tr h="38588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 smtClean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Precio </a:t>
                      </a:r>
                      <a:r>
                        <a:rPr lang="es-ES" sz="1600" b="0" dirty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(€/</a:t>
                      </a:r>
                      <a:r>
                        <a:rPr lang="es-ES" sz="1600" b="0" dirty="0" err="1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Wp</a:t>
                      </a:r>
                      <a:r>
                        <a:rPr lang="es-ES" sz="1600" b="0" dirty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993" marR="107993" marT="71991" marB="719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242246"/>
                  </a:ext>
                </a:extLst>
              </a:tr>
            </a:tbl>
          </a:graphicData>
        </a:graphic>
      </p:graphicFrame>
      <p:sp>
        <p:nvSpPr>
          <p:cNvPr id="2" name="Rectángulo 1"/>
          <p:cNvSpPr/>
          <p:nvPr/>
        </p:nvSpPr>
        <p:spPr>
          <a:xfrm>
            <a:off x="2286000" y="654214"/>
            <a:ext cx="4572000" cy="4508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 b="0" i="1" dirty="0" smtClean="0">
                <a:solidFill>
                  <a:schemeClr val="tx1"/>
                </a:solidFill>
              </a:rPr>
              <a:t>Por </a:t>
            </a:r>
            <a:r>
              <a:rPr lang="es-ES_tradnl" altLang="es-ES" sz="1800" b="0" i="1" dirty="0">
                <a:solidFill>
                  <a:schemeClr val="tx1"/>
                </a:solidFill>
              </a:rPr>
              <a:t>ejemplo, </a:t>
            </a:r>
            <a:r>
              <a:rPr lang="es-ES_tradnl" altLang="es-ES" sz="1800" b="0" i="1" dirty="0" smtClean="0">
                <a:solidFill>
                  <a:schemeClr val="tx1"/>
                </a:solidFill>
              </a:rPr>
              <a:t>comparándolo: </a:t>
            </a:r>
            <a:endParaRPr lang="es-ES" altLang="es-ES" sz="1800" b="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58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3">
            <a:extLst>
              <a:ext uri="{FF2B5EF4-FFF2-40B4-BE49-F238E27FC236}">
                <a16:creationId xmlns:a16="http://schemas.microsoft.com/office/drawing/2014/main" id="{599A67B5-9885-4F50-BD55-CC995BA85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2263" y="549275"/>
            <a:ext cx="3417887" cy="73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600" dirty="0" smtClean="0">
                <a:solidFill>
                  <a:schemeClr val="accent2"/>
                </a:solidFill>
              </a:rPr>
              <a:t>Imagen </a:t>
            </a:r>
            <a:r>
              <a:rPr lang="es-ES_tradnl" altLang="es-ES" sz="1600" dirty="0">
                <a:solidFill>
                  <a:schemeClr val="accent2"/>
                </a:solidFill>
              </a:rPr>
              <a:t>del módulo, curvas características, etc.</a:t>
            </a:r>
            <a:endParaRPr lang="es-ES" altLang="es-ES" sz="1600" b="0" dirty="0">
              <a:solidFill>
                <a:schemeClr val="tx1"/>
              </a:solidFill>
            </a:endParaRPr>
          </a:p>
        </p:txBody>
      </p:sp>
      <p:grpSp>
        <p:nvGrpSpPr>
          <p:cNvPr id="34819" name="4 Grupo">
            <a:extLst>
              <a:ext uri="{FF2B5EF4-FFF2-40B4-BE49-F238E27FC236}">
                <a16:creationId xmlns:a16="http://schemas.microsoft.com/office/drawing/2014/main" id="{52B64002-5077-4823-93C0-339407C31589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34821" name="5 Elipse">
              <a:extLst>
                <a:ext uri="{FF2B5EF4-FFF2-40B4-BE49-F238E27FC236}">
                  <a16:creationId xmlns:a16="http://schemas.microsoft.com/office/drawing/2014/main" id="{8ACCB981-6087-4C0D-A752-978C73317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34822" name="6 Flecha derecha">
              <a:extLst>
                <a:ext uri="{FF2B5EF4-FFF2-40B4-BE49-F238E27FC236}">
                  <a16:creationId xmlns:a16="http://schemas.microsoft.com/office/drawing/2014/main" id="{349EF4DE-54FD-4601-B70B-D0BB63E87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34820" name="CuadroTexto 5">
            <a:extLst>
              <a:ext uri="{FF2B5EF4-FFF2-40B4-BE49-F238E27FC236}">
                <a16:creationId xmlns:a16="http://schemas.microsoft.com/office/drawing/2014/main" id="{C756B400-754E-433C-B414-B06C3DA4C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8878B186-7D06-4C56-B5FE-560262492B19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17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0CE421A8-5833-49FB-B110-530E494A9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761" y="3168024"/>
            <a:ext cx="8208485" cy="379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600" dirty="0" smtClean="0">
                <a:solidFill>
                  <a:schemeClr val="accent2"/>
                </a:solidFill>
              </a:rPr>
              <a:t>Destacar las características más significativas del módulo seleccionado</a:t>
            </a:r>
            <a:endParaRPr lang="es-ES" altLang="es-ES" sz="1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2">
            <a:extLst>
              <a:ext uri="{FF2B5EF4-FFF2-40B4-BE49-F238E27FC236}">
                <a16:creationId xmlns:a16="http://schemas.microsoft.com/office/drawing/2014/main" id="{0129A8AE-AA7F-4529-AB02-959CEADA9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60350"/>
            <a:ext cx="7140575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>
                <a:solidFill>
                  <a:schemeClr val="accent2"/>
                </a:solidFill>
              </a:rPr>
              <a:t>Determinación de la potencia del inversor</a:t>
            </a:r>
            <a:endParaRPr lang="es-ES" altLang="es-ES" sz="1800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FB3136-5C60-4932-843F-895EB49CF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420938"/>
            <a:ext cx="874871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400"/>
              </a:lnSpc>
              <a:buFont typeface="Wingdings" panose="05000000000000000000" pitchFamily="2" charset="2"/>
              <a:buNone/>
            </a:pPr>
            <a:r>
              <a:rPr lang="es-ES_tradnl" altLang="es-ES" sz="1800" b="0" i="1">
                <a:solidFill>
                  <a:schemeClr val="tx1"/>
                </a:solidFill>
              </a:rPr>
              <a:t>Conocida la potencia del inversor se hace una prospección del mercado para ver que inversores están disponibles comercialmente, buscando los criterios técnicos:</a:t>
            </a:r>
            <a:endParaRPr lang="es-ES" altLang="es-ES" sz="1800" b="0" i="1" baseline="-25000">
              <a:solidFill>
                <a:schemeClr val="tx1"/>
              </a:solidFill>
            </a:endParaRPr>
          </a:p>
        </p:txBody>
      </p:sp>
      <p:sp>
        <p:nvSpPr>
          <p:cNvPr id="4101" name="7 Rectángulo">
            <a:extLst>
              <a:ext uri="{FF2B5EF4-FFF2-40B4-BE49-F238E27FC236}">
                <a16:creationId xmlns:a16="http://schemas.microsoft.com/office/drawing/2014/main" id="{BDD62A3B-BF66-4DB8-AE5F-E78FF354C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908050"/>
            <a:ext cx="698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 sz="1600" b="0" i="1" dirty="0">
                <a:solidFill>
                  <a:schemeClr val="tx1"/>
                </a:solidFill>
              </a:rPr>
              <a:t>A partir de la potencia pico del generador FV se obtiene la potencia nominal del inversor </a:t>
            </a:r>
            <a:r>
              <a:rPr lang="es-ES_tradnl" altLang="es-ES" sz="1600" b="0" i="1" dirty="0" err="1">
                <a:solidFill>
                  <a:schemeClr val="tx1"/>
                </a:solidFill>
              </a:rPr>
              <a:t>P</a:t>
            </a:r>
            <a:r>
              <a:rPr lang="es-ES_tradnl" altLang="es-ES" sz="1600" b="0" i="1" baseline="-25000" dirty="0" err="1">
                <a:solidFill>
                  <a:schemeClr val="tx1"/>
                </a:solidFill>
              </a:rPr>
              <a:t>acnom</a:t>
            </a:r>
            <a:r>
              <a:rPr lang="es-ES_tradnl" altLang="es-ES" sz="1600" b="0" i="1" dirty="0">
                <a:solidFill>
                  <a:schemeClr val="tx1"/>
                </a:solidFill>
              </a:rPr>
              <a:t> aplicando el </a:t>
            </a:r>
            <a:r>
              <a:rPr lang="es-ES_tradnl" altLang="es-ES" sz="1600" i="1" dirty="0">
                <a:solidFill>
                  <a:schemeClr val="tx1"/>
                </a:solidFill>
              </a:rPr>
              <a:t>ratio DC/AC </a:t>
            </a:r>
            <a:r>
              <a:rPr lang="es-ES_tradnl" altLang="es-ES" sz="1600" b="0" i="1" dirty="0">
                <a:solidFill>
                  <a:schemeClr val="tx1"/>
                </a:solidFill>
              </a:rPr>
              <a:t>considerado</a:t>
            </a:r>
            <a:endParaRPr lang="es-ES" altLang="es-ES" sz="1600" dirty="0"/>
          </a:p>
        </p:txBody>
      </p:sp>
      <p:grpSp>
        <p:nvGrpSpPr>
          <p:cNvPr id="4102" name="6 Grupo">
            <a:extLst>
              <a:ext uri="{FF2B5EF4-FFF2-40B4-BE49-F238E27FC236}">
                <a16:creationId xmlns:a16="http://schemas.microsoft.com/office/drawing/2014/main" id="{CF640F97-047B-4B31-9A48-0751CB6352CF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5287963"/>
            <a:ext cx="936625" cy="1570037"/>
            <a:chOff x="395536" y="908720"/>
            <a:chExt cx="936104" cy="1569660"/>
          </a:xfrm>
        </p:grpSpPr>
        <p:sp>
          <p:nvSpPr>
            <p:cNvPr id="4115" name="9 Rectángulo">
              <a:extLst>
                <a:ext uri="{FF2B5EF4-FFF2-40B4-BE49-F238E27FC236}">
                  <a16:creationId xmlns:a16="http://schemas.microsoft.com/office/drawing/2014/main" id="{58D7B5A0-AD0B-4A13-BD6F-5F2C6C34F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4116" name="10 Elipse">
              <a:extLst>
                <a:ext uri="{FF2B5EF4-FFF2-40B4-BE49-F238E27FC236}">
                  <a16:creationId xmlns:a16="http://schemas.microsoft.com/office/drawing/2014/main" id="{1340B350-D456-44B9-920C-17F9230EA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12" name="11 Tabla">
            <a:extLst>
              <a:ext uri="{FF2B5EF4-FFF2-40B4-BE49-F238E27FC236}">
                <a16:creationId xmlns:a16="http://schemas.microsoft.com/office/drawing/2014/main" id="{E0B112E4-7D7D-4442-AA74-8E8A52137F05}"/>
              </a:ext>
            </a:extLst>
          </p:cNvPr>
          <p:cNvGraphicFramePr>
            <a:graphicFrameLocks noGrp="1"/>
          </p:cNvGraphicFramePr>
          <p:nvPr/>
        </p:nvGraphicFramePr>
        <p:xfrm>
          <a:off x="971550" y="5503863"/>
          <a:ext cx="7345363" cy="936625"/>
        </p:xfrm>
        <a:graphic>
          <a:graphicData uri="http://schemas.openxmlformats.org/drawingml/2006/table">
            <a:tbl>
              <a:tblPr/>
              <a:tblGrid>
                <a:gridCol w="1008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7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endParaRPr lang="es-ES" sz="1800" dirty="0"/>
                    </a:p>
                  </a:txBody>
                  <a:tcPr marL="91447" marR="91447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spcBef>
                          <a:spcPts val="0"/>
                        </a:spcBef>
                      </a:pPr>
                      <a:r>
                        <a:rPr lang="es-ES_tradnl" sz="1600" b="0" i="1" dirty="0">
                          <a:solidFill>
                            <a:schemeClr val="tx1"/>
                          </a:solidFill>
                        </a:rPr>
                        <a:t>Nota: en esta guía se elige primero el módulo FV y luego el inversor. También se puede proceder al revés, eligiendo un inversor determinado y desarrollar el proyecto a partir de sus características</a:t>
                      </a:r>
                      <a:endParaRPr lang="es-ES" sz="1600" b="0" i="1" u="none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2899" name="Rectangle 3">
            <a:extLst>
              <a:ext uri="{FF2B5EF4-FFF2-40B4-BE49-F238E27FC236}">
                <a16:creationId xmlns:a16="http://schemas.microsoft.com/office/drawing/2014/main" id="{3532F42B-9B2E-4A5B-B891-14644F1E3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219450"/>
            <a:ext cx="6367463" cy="160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268288" indent="-268288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2400"/>
              </a:lnSpc>
              <a:buFontTx/>
              <a:buChar char="•"/>
            </a:pPr>
            <a:r>
              <a:rPr lang="es-ES" altLang="es-ES" sz="1800" b="0" i="1" dirty="0">
                <a:solidFill>
                  <a:schemeClr val="tx1"/>
                </a:solidFill>
              </a:rPr>
              <a:t>Optimización de potencias generador FV-inversor</a:t>
            </a:r>
          </a:p>
          <a:p>
            <a:pPr>
              <a:lnSpc>
                <a:spcPts val="2400"/>
              </a:lnSpc>
              <a:buFontTx/>
              <a:buChar char="•"/>
            </a:pPr>
            <a:r>
              <a:rPr lang="es-ES" altLang="es-ES" sz="1800" b="0" i="1" dirty="0">
                <a:solidFill>
                  <a:schemeClr val="tx1"/>
                </a:solidFill>
              </a:rPr>
              <a:t>Optimización de tensión dc</a:t>
            </a:r>
          </a:p>
          <a:p>
            <a:pPr>
              <a:lnSpc>
                <a:spcPts val="2400"/>
              </a:lnSpc>
              <a:buFontTx/>
              <a:buChar char="•"/>
            </a:pPr>
            <a:r>
              <a:rPr lang="es-ES" altLang="es-ES" sz="1800" b="0" i="1" dirty="0">
                <a:solidFill>
                  <a:schemeClr val="tx1"/>
                </a:solidFill>
              </a:rPr>
              <a:t>Requisitos de tensiones máximas y mínimas dc</a:t>
            </a:r>
          </a:p>
          <a:p>
            <a:pPr>
              <a:lnSpc>
                <a:spcPts val="2400"/>
              </a:lnSpc>
              <a:buFontTx/>
              <a:buChar char="•"/>
            </a:pPr>
            <a:r>
              <a:rPr lang="es-ES" altLang="es-ES" sz="1800" b="0" i="1" dirty="0">
                <a:solidFill>
                  <a:schemeClr val="tx1"/>
                </a:solidFill>
              </a:rPr>
              <a:t>Requisitos de intensidad máxima dc</a:t>
            </a:r>
          </a:p>
          <a:p>
            <a:pPr>
              <a:lnSpc>
                <a:spcPts val="2400"/>
              </a:lnSpc>
              <a:buFontTx/>
              <a:buChar char="•"/>
            </a:pPr>
            <a:r>
              <a:rPr lang="es-ES" altLang="es-ES" sz="1800" b="0" i="1" dirty="0" err="1">
                <a:solidFill>
                  <a:schemeClr val="tx1"/>
                </a:solidFill>
              </a:rPr>
              <a:t>Subcampos</a:t>
            </a:r>
            <a:r>
              <a:rPr lang="es-ES" altLang="es-ES" sz="1800" b="0" i="1" dirty="0">
                <a:solidFill>
                  <a:schemeClr val="tx1"/>
                </a:solidFill>
              </a:rPr>
              <a:t> fotovoltaicos con distinta disposición espacial</a:t>
            </a:r>
          </a:p>
        </p:txBody>
      </p:sp>
      <p:sp>
        <p:nvSpPr>
          <p:cNvPr id="13" name="12 Rectángulo">
            <a:extLst>
              <a:ext uri="{FF2B5EF4-FFF2-40B4-BE49-F238E27FC236}">
                <a16:creationId xmlns:a16="http://schemas.microsoft.com/office/drawing/2014/main" id="{A9EEB7CA-50D4-4A20-BC33-00C42FCF6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4868863"/>
            <a:ext cx="6699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 sz="1800" b="0" i="1">
                <a:solidFill>
                  <a:schemeClr val="tx1"/>
                </a:solidFill>
              </a:rPr>
              <a:t>y aplicando los criterios de selección de la diapositiva siguiente.</a:t>
            </a:r>
            <a:endParaRPr lang="es-ES" altLang="es-ES" sz="1800" b="0"/>
          </a:p>
        </p:txBody>
      </p:sp>
      <p:sp>
        <p:nvSpPr>
          <p:cNvPr id="4114" name="CuadroTexto 14">
            <a:extLst>
              <a:ext uri="{FF2B5EF4-FFF2-40B4-BE49-F238E27FC236}">
                <a16:creationId xmlns:a16="http://schemas.microsoft.com/office/drawing/2014/main" id="{B1521F57-C731-4A3A-93C9-2A6647F38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C90BAC3E-FBCC-4711-A037-87F2E0219FBE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18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grpSp>
        <p:nvGrpSpPr>
          <p:cNvPr id="15" name="8 Grupo">
            <a:extLst>
              <a:ext uri="{FF2B5EF4-FFF2-40B4-BE49-F238E27FC236}">
                <a16:creationId xmlns:a16="http://schemas.microsoft.com/office/drawing/2014/main" id="{55A1A60E-1FAA-45AB-8909-BD72F5013799}"/>
              </a:ext>
            </a:extLst>
          </p:cNvPr>
          <p:cNvGrpSpPr>
            <a:grpSpLocks/>
          </p:cNvGrpSpPr>
          <p:nvPr/>
        </p:nvGrpSpPr>
        <p:grpSpPr bwMode="auto">
          <a:xfrm>
            <a:off x="-107950" y="-242888"/>
            <a:ext cx="935038" cy="1568451"/>
            <a:chOff x="395536" y="908720"/>
            <a:chExt cx="936104" cy="1569660"/>
          </a:xfrm>
        </p:grpSpPr>
        <p:sp>
          <p:nvSpPr>
            <p:cNvPr id="16" name="16 Rectángulo">
              <a:extLst>
                <a:ext uri="{FF2B5EF4-FFF2-40B4-BE49-F238E27FC236}">
                  <a16:creationId xmlns:a16="http://schemas.microsoft.com/office/drawing/2014/main" id="{ECBDA9B5-4E75-4AF3-BB49-C4468D6B0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17" name="17 Elipse">
              <a:extLst>
                <a:ext uri="{FF2B5EF4-FFF2-40B4-BE49-F238E27FC236}">
                  <a16:creationId xmlns:a16="http://schemas.microsoft.com/office/drawing/2014/main" id="{F3E83E6A-E837-4486-B16D-B38C6752E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8">
                <a:extLst>
                  <a:ext uri="{FF2B5EF4-FFF2-40B4-BE49-F238E27FC236}">
                    <a16:creationId xmlns:a16="http://schemas.microsoft.com/office/drawing/2014/main" id="{E4E0B01C-AD40-4077-BEF3-8B4F6C24DCDA}"/>
                  </a:ext>
                </a:extLst>
              </p:cNvPr>
              <p:cNvSpPr txBox="1"/>
              <p:nvPr/>
            </p:nvSpPr>
            <p:spPr bwMode="auto">
              <a:xfrm>
                <a:off x="3077580" y="1600993"/>
                <a:ext cx="2952328" cy="690344"/>
              </a:xfrm>
              <a:prstGeom prst="rect">
                <a:avLst/>
              </a:prstGeom>
              <a:noFill/>
            </p:spPr>
            <p:txBody>
              <a:bodyPr wrap="none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16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16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inversor</m:t>
                          </m:r>
                          <m:r>
                            <a:rPr lang="es-ES" sz="16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16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acn</m:t>
                          </m:r>
                        </m:sub>
                      </m:sSub>
                      <m:r>
                        <a:rPr lang="es-ES" sz="1600" b="0" i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6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1600" b="0" i="0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fotovoltaica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s-ES" sz="16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Ratio</m:t>
                          </m:r>
                          <m:r>
                            <a:rPr lang="es-ES" sz="16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16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DC</m:t>
                          </m:r>
                          <m:r>
                            <a:rPr lang="es-ES" sz="16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s-ES" sz="16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AC</m:t>
                          </m:r>
                        </m:den>
                      </m:f>
                    </m:oMath>
                  </m:oMathPara>
                </a14:m>
                <a:endParaRPr lang="es-ES" sz="1600" b="0" u="non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bject 8">
                <a:extLst>
                  <a:ext uri="{FF2B5EF4-FFF2-40B4-BE49-F238E27FC236}">
                    <a16:creationId xmlns:a16="http://schemas.microsoft.com/office/drawing/2014/main" id="{E4E0B01C-AD40-4077-BEF3-8B4F6C24D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7580" y="1600993"/>
                <a:ext cx="2952328" cy="6903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92899" grpId="0"/>
      <p:bldP spid="13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6">
            <a:extLst>
              <a:ext uri="{FF2B5EF4-FFF2-40B4-BE49-F238E27FC236}">
                <a16:creationId xmlns:a16="http://schemas.microsoft.com/office/drawing/2014/main" id="{AC90CC10-41FC-43FF-A873-B59088DD5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82406"/>
            <a:ext cx="71247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 sz="1800" dirty="0">
                <a:solidFill>
                  <a:schemeClr val="accent2"/>
                </a:solidFill>
              </a:rPr>
              <a:t>Selección de inversores</a:t>
            </a:r>
            <a:endParaRPr lang="es-ES" altLang="es-ES" sz="1800" dirty="0">
              <a:solidFill>
                <a:schemeClr val="accent2"/>
              </a:solidFill>
            </a:endParaRPr>
          </a:p>
        </p:txBody>
      </p:sp>
      <p:grpSp>
        <p:nvGrpSpPr>
          <p:cNvPr id="41055" name="4 Grupo">
            <a:extLst>
              <a:ext uri="{FF2B5EF4-FFF2-40B4-BE49-F238E27FC236}">
                <a16:creationId xmlns:a16="http://schemas.microsoft.com/office/drawing/2014/main" id="{4E689060-7F33-49E5-863E-3AC372C2CF58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41057" name="5 Elipse">
              <a:extLst>
                <a:ext uri="{FF2B5EF4-FFF2-40B4-BE49-F238E27FC236}">
                  <a16:creationId xmlns:a16="http://schemas.microsoft.com/office/drawing/2014/main" id="{BFF8D5F2-260E-441A-92A3-79361E5A5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41058" name="6 Flecha derecha">
              <a:extLst>
                <a:ext uri="{FF2B5EF4-FFF2-40B4-BE49-F238E27FC236}">
                  <a16:creationId xmlns:a16="http://schemas.microsoft.com/office/drawing/2014/main" id="{51C4BE3A-D560-4351-899F-4395E56FE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41056" name="CuadroTexto 6">
            <a:extLst>
              <a:ext uri="{FF2B5EF4-FFF2-40B4-BE49-F238E27FC236}">
                <a16:creationId xmlns:a16="http://schemas.microsoft.com/office/drawing/2014/main" id="{A3CBDD93-4777-4462-AF0D-5F3ACAF25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57472025-909D-44A1-89B7-875F68C4966B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19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26A1E3C7-632E-40C7-A02C-7E6D60EE3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624477"/>
              </p:ext>
            </p:extLst>
          </p:nvPr>
        </p:nvGraphicFramePr>
        <p:xfrm>
          <a:off x="282454" y="958852"/>
          <a:ext cx="8766176" cy="3551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01908">
                  <a:extLst>
                    <a:ext uri="{9D8B030D-6E8A-4147-A177-3AD203B41FA5}">
                      <a16:colId xmlns:a16="http://schemas.microsoft.com/office/drawing/2014/main" val="3562319444"/>
                    </a:ext>
                  </a:extLst>
                </a:gridCol>
                <a:gridCol w="1512091">
                  <a:extLst>
                    <a:ext uri="{9D8B030D-6E8A-4147-A177-3AD203B41FA5}">
                      <a16:colId xmlns:a16="http://schemas.microsoft.com/office/drawing/2014/main" val="88584655"/>
                    </a:ext>
                  </a:extLst>
                </a:gridCol>
                <a:gridCol w="1584095">
                  <a:extLst>
                    <a:ext uri="{9D8B030D-6E8A-4147-A177-3AD203B41FA5}">
                      <a16:colId xmlns:a16="http://schemas.microsoft.com/office/drawing/2014/main" val="4221869541"/>
                    </a:ext>
                  </a:extLst>
                </a:gridCol>
                <a:gridCol w="1368082">
                  <a:extLst>
                    <a:ext uri="{9D8B030D-6E8A-4147-A177-3AD203B41FA5}">
                      <a16:colId xmlns:a16="http://schemas.microsoft.com/office/drawing/2014/main" val="810239461"/>
                    </a:ext>
                  </a:extLst>
                </a:gridCol>
              </a:tblGrid>
              <a:tr h="3859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Característica</a:t>
                      </a:r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técnica</a:t>
                      </a: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Inversor 1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Inversor 2</a:t>
                      </a: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Inversor 3</a:t>
                      </a:r>
                      <a:endParaRPr lang="es-ES" sz="1600" b="1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368916"/>
                  </a:ext>
                </a:extLst>
              </a:tr>
              <a:tr h="30300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b="0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Tipo</a:t>
                      </a:r>
                      <a:r>
                        <a:rPr lang="es-ES" sz="1500" b="0" baseline="0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 (micro, </a:t>
                      </a:r>
                      <a:r>
                        <a:rPr lang="es-ES" sz="1500" b="0" baseline="0" dirty="0" err="1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string</a:t>
                      </a:r>
                      <a:r>
                        <a:rPr lang="es-ES" sz="1500" b="0" baseline="0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 1F, </a:t>
                      </a:r>
                      <a:r>
                        <a:rPr lang="es-ES" sz="1500" b="0" baseline="0" dirty="0" err="1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string</a:t>
                      </a:r>
                      <a:r>
                        <a:rPr lang="es-ES" sz="1500" b="0" baseline="0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 3F</a:t>
                      </a:r>
                      <a:r>
                        <a:rPr lang="es-ES" sz="1500" b="0" baseline="0" dirty="0" smtClean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, )</a:t>
                      </a: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b="0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396190"/>
                  </a:ext>
                </a:extLst>
              </a:tr>
              <a:tr h="30300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b="0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Tecnología </a:t>
                      </a:r>
                      <a:r>
                        <a:rPr lang="es-ES" sz="1500" b="0" dirty="0" smtClean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(estándar, híbrido, etc.)</a:t>
                      </a: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b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s-ES" sz="1500" b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690323"/>
                  </a:ext>
                </a:extLst>
              </a:tr>
              <a:tr h="3030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00" b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Potencia nominal AC (kW)</a:t>
                      </a: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b="0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57370"/>
                  </a:ext>
                </a:extLst>
              </a:tr>
              <a:tr h="30300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b="0" kern="1200" baseline="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Eficiencia máxima </a:t>
                      </a:r>
                      <a:r>
                        <a:rPr lang="es-ES" sz="1500" b="0" kern="1200" baseline="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(%)</a:t>
                      </a:r>
                      <a:endParaRPr lang="es-ES" sz="1500" b="0" kern="1200" dirty="0">
                        <a:solidFill>
                          <a:schemeClr val="accent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650513"/>
                  </a:ext>
                </a:extLst>
              </a:tr>
              <a:tr h="30300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b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Nº seguidores del punto de máx.</a:t>
                      </a:r>
                      <a:r>
                        <a:rPr lang="es-ES" sz="1500" b="0" kern="1200" baseline="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potencia</a:t>
                      </a:r>
                      <a:endParaRPr lang="es-ES" sz="1500" b="0" kern="1200" dirty="0">
                        <a:solidFill>
                          <a:schemeClr val="accent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257706"/>
                  </a:ext>
                </a:extLst>
              </a:tr>
              <a:tr h="3030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00" b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Intervalo DC seguimiento máx.</a:t>
                      </a:r>
                      <a:r>
                        <a:rPr lang="es-ES" sz="1500" b="0" kern="1200" baseline="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potencia (V-V)</a:t>
                      </a:r>
                      <a:endParaRPr lang="es-ES" sz="1500" b="0" kern="120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b="0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488115"/>
                  </a:ext>
                </a:extLst>
              </a:tr>
              <a:tr h="3030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00" b="0" kern="1200" dirty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Intensidad</a:t>
                      </a:r>
                      <a:r>
                        <a:rPr lang="es-ES" sz="1500" b="0" kern="1200" baseline="0" dirty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máxima DC (A)</a:t>
                      </a:r>
                      <a:endParaRPr lang="es-ES" sz="1500" b="0" kern="1200" dirty="0">
                        <a:solidFill>
                          <a:schemeClr val="accent2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724183"/>
                  </a:ext>
                </a:extLst>
              </a:tr>
              <a:tr h="30300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b="0" dirty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Índice</a:t>
                      </a:r>
                      <a:r>
                        <a:rPr lang="es-ES" sz="1500" b="0" baseline="0" dirty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de protección</a:t>
                      </a: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b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s-ES" sz="1500" b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649513"/>
                  </a:ext>
                </a:extLst>
              </a:tr>
              <a:tr h="30300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b="0" dirty="0">
                          <a:solidFill>
                            <a:schemeClr val="accent2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Precio (€/W)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b="0" dirty="0">
                          <a:solidFill>
                            <a:schemeClr val="accent2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65423"/>
                  </a:ext>
                </a:extLst>
              </a:tr>
              <a:tr h="30300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500" b="0" dirty="0">
                        <a:solidFill>
                          <a:schemeClr val="accent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922943"/>
                  </a:ext>
                </a:extLst>
              </a:tr>
            </a:tbl>
          </a:graphicData>
        </a:graphic>
      </p:graphicFrame>
      <p:sp>
        <p:nvSpPr>
          <p:cNvPr id="9" name="14 Rectángulo">
            <a:extLst>
              <a:ext uri="{FF2B5EF4-FFF2-40B4-BE49-F238E27FC236}">
                <a16:creationId xmlns:a16="http://schemas.microsoft.com/office/drawing/2014/main" id="{3A89101E-1DFC-4B06-B8DF-96D264D67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72" y="4746987"/>
            <a:ext cx="861465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s-ES_tradnl" altLang="es-ES" sz="1600" b="0" dirty="0">
                <a:solidFill>
                  <a:schemeClr val="tx1"/>
                </a:solidFill>
              </a:rPr>
              <a:t>Ranking inversores </a:t>
            </a:r>
            <a:endParaRPr lang="es-ES_tradnl" altLang="es-ES" sz="1600" b="0" dirty="0" smtClean="0">
              <a:solidFill>
                <a:schemeClr val="tx1"/>
              </a:solidFill>
            </a:endParaRPr>
          </a:p>
          <a:p>
            <a:pPr algn="ctr" ea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600" u="sng" dirty="0">
                <a:solidFill>
                  <a:schemeClr val="accent2"/>
                </a:solidFill>
                <a:hlinkClick r:id="rId3"/>
              </a:rPr>
              <a:t>https://www.sfe-solar.com/noticias/articulos/mejores-inversores-solares-mundo</a:t>
            </a:r>
            <a:r>
              <a:rPr lang="es-ES" sz="1600" u="sng" dirty="0" smtClean="0">
                <a:solidFill>
                  <a:schemeClr val="accent2"/>
                </a:solidFill>
                <a:hlinkClick r:id="rId3"/>
              </a:rPr>
              <a:t>/</a:t>
            </a:r>
            <a:endParaRPr lang="es-ES" sz="1600" u="sng" dirty="0" smtClean="0">
              <a:solidFill>
                <a:schemeClr val="accent2"/>
              </a:solidFill>
            </a:endParaRPr>
          </a:p>
          <a:p>
            <a:pPr algn="ctr" ea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600" u="sng" dirty="0" smtClean="0">
                <a:solidFill>
                  <a:schemeClr val="accent2"/>
                </a:solidFill>
                <a:hlinkClick r:id="rId4"/>
              </a:rPr>
              <a:t>https</a:t>
            </a:r>
            <a:r>
              <a:rPr lang="es-ES" sz="1600" u="sng" dirty="0">
                <a:solidFill>
                  <a:schemeClr val="accent2"/>
                </a:solidFill>
                <a:hlinkClick r:id="rId4"/>
              </a:rPr>
              <a:t>://</a:t>
            </a:r>
            <a:r>
              <a:rPr lang="es-ES" sz="1600" u="sng" dirty="0" smtClean="0">
                <a:solidFill>
                  <a:schemeClr val="accent2"/>
                </a:solidFill>
                <a:hlinkClick r:id="rId4"/>
              </a:rPr>
              <a:t>solarplus.es/inversores</a:t>
            </a:r>
            <a:endParaRPr lang="es-ES_tradnl" altLang="es-E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3">
            <a:extLst>
              <a:ext uri="{FF2B5EF4-FFF2-40B4-BE49-F238E27FC236}">
                <a16:creationId xmlns:a16="http://schemas.microsoft.com/office/drawing/2014/main" id="{3B199BE1-525F-4402-9C42-68E7DB85E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461" y="279585"/>
            <a:ext cx="7470377" cy="41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600" dirty="0" smtClean="0">
                <a:solidFill>
                  <a:schemeClr val="accent2"/>
                </a:solidFill>
              </a:rPr>
              <a:t>Imagen </a:t>
            </a:r>
            <a:r>
              <a:rPr lang="es-ES_tradnl" altLang="es-ES" sz="1600" dirty="0">
                <a:solidFill>
                  <a:schemeClr val="accent2"/>
                </a:solidFill>
              </a:rPr>
              <a:t>del inversor, curva de rendimiento, esquema de conexiones, etc.</a:t>
            </a:r>
            <a:endParaRPr lang="es-ES" altLang="es-ES" sz="1600" dirty="0">
              <a:solidFill>
                <a:schemeClr val="accent2"/>
              </a:solidFill>
            </a:endParaRPr>
          </a:p>
        </p:txBody>
      </p:sp>
      <p:grpSp>
        <p:nvGrpSpPr>
          <p:cNvPr id="41987" name="4 Grupo">
            <a:extLst>
              <a:ext uri="{FF2B5EF4-FFF2-40B4-BE49-F238E27FC236}">
                <a16:creationId xmlns:a16="http://schemas.microsoft.com/office/drawing/2014/main" id="{2E7D1E06-9B3F-4431-AA5B-F349F6DB94C3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41989" name="5 Elipse">
              <a:extLst>
                <a:ext uri="{FF2B5EF4-FFF2-40B4-BE49-F238E27FC236}">
                  <a16:creationId xmlns:a16="http://schemas.microsoft.com/office/drawing/2014/main" id="{D9F2D9BF-456C-4363-A04F-53864D000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41990" name="6 Flecha derecha">
              <a:extLst>
                <a:ext uri="{FF2B5EF4-FFF2-40B4-BE49-F238E27FC236}">
                  <a16:creationId xmlns:a16="http://schemas.microsoft.com/office/drawing/2014/main" id="{5735BA18-CA23-43A2-994C-6B6969A35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41988" name="CuadroTexto 5">
            <a:extLst>
              <a:ext uri="{FF2B5EF4-FFF2-40B4-BE49-F238E27FC236}">
                <a16:creationId xmlns:a16="http://schemas.microsoft.com/office/drawing/2014/main" id="{39056306-A55C-432F-9279-EF584D7DA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1AF242F2-3157-4C72-B62F-1E18FD157144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20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3681BA27-0FB0-460B-940E-4AB1A2FFC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499" y="115888"/>
            <a:ext cx="7200900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 dirty="0">
                <a:solidFill>
                  <a:schemeClr val="accent2"/>
                </a:solidFill>
              </a:rPr>
              <a:t>Asociación de módulos fotovoltaicos</a:t>
            </a:r>
            <a:endParaRPr lang="es-ES" altLang="es-ES" sz="1800" dirty="0">
              <a:solidFill>
                <a:schemeClr val="accent2"/>
              </a:solidFill>
            </a:endParaRPr>
          </a:p>
        </p:txBody>
      </p:sp>
      <p:grpSp>
        <p:nvGrpSpPr>
          <p:cNvPr id="43012" name="10 Grupo">
            <a:extLst>
              <a:ext uri="{FF2B5EF4-FFF2-40B4-BE49-F238E27FC236}">
                <a16:creationId xmlns:a16="http://schemas.microsoft.com/office/drawing/2014/main" id="{DAA048EA-A0D7-4A39-BFF3-DEC68B3D5865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43070" name="11 Elipse">
              <a:extLst>
                <a:ext uri="{FF2B5EF4-FFF2-40B4-BE49-F238E27FC236}">
                  <a16:creationId xmlns:a16="http://schemas.microsoft.com/office/drawing/2014/main" id="{315A7B53-59D1-4530-BC60-44BB27866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43071" name="12 Flecha derecha">
              <a:extLst>
                <a:ext uri="{FF2B5EF4-FFF2-40B4-BE49-F238E27FC236}">
                  <a16:creationId xmlns:a16="http://schemas.microsoft.com/office/drawing/2014/main" id="{FA997658-AB38-4918-A3CB-88B9DB5C0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21" name="Rectangle 2">
            <a:extLst>
              <a:ext uri="{FF2B5EF4-FFF2-40B4-BE49-F238E27FC236}">
                <a16:creationId xmlns:a16="http://schemas.microsoft.com/office/drawing/2014/main" id="{B9F5F2AB-3119-4ECC-8BBE-E08EB8712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05" y="466807"/>
            <a:ext cx="7788275" cy="77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 sz="1600" b="0" i="1" dirty="0">
                <a:solidFill>
                  <a:schemeClr val="tx1"/>
                </a:solidFill>
              </a:rPr>
              <a:t>La asociación fotovoltaica se puede establecer </a:t>
            </a:r>
            <a:r>
              <a:rPr lang="es-ES_tradnl" altLang="es-ES" sz="1600" b="0" i="1" dirty="0" smtClean="0">
                <a:solidFill>
                  <a:schemeClr val="tx1"/>
                </a:solidFill>
              </a:rPr>
              <a:t>por </a:t>
            </a:r>
            <a:r>
              <a:rPr lang="es-ES_tradnl" altLang="es-ES" sz="1600" b="0" i="1" dirty="0">
                <a:solidFill>
                  <a:schemeClr val="tx1"/>
                </a:solidFill>
              </a:rPr>
              <a:t>aplicación </a:t>
            </a:r>
            <a:r>
              <a:rPr lang="es-ES_tradnl" altLang="es-ES" sz="1600" b="0" i="1" dirty="0" smtClean="0">
                <a:solidFill>
                  <a:schemeClr val="tx1"/>
                </a:solidFill>
              </a:rPr>
              <a:t>del software del </a:t>
            </a:r>
            <a:r>
              <a:rPr lang="es-ES_tradnl" altLang="es-ES" sz="1600" b="0" i="1" dirty="0">
                <a:solidFill>
                  <a:schemeClr val="tx1"/>
                </a:solidFill>
              </a:rPr>
              <a:t>fabricante de inversores, PVSYST, etc</a:t>
            </a:r>
            <a:r>
              <a:rPr lang="es-ES_tradnl" altLang="es-ES" sz="1600" b="0" i="1" dirty="0" smtClean="0">
                <a:solidFill>
                  <a:schemeClr val="tx1"/>
                </a:solidFill>
              </a:rPr>
              <a:t>.</a:t>
            </a:r>
            <a:endParaRPr lang="es-ES" altLang="es-ES" sz="1600" b="0" i="1" dirty="0">
              <a:solidFill>
                <a:schemeClr val="tx1"/>
              </a:solidFill>
            </a:endParaRPr>
          </a:p>
        </p:txBody>
      </p:sp>
      <p:sp>
        <p:nvSpPr>
          <p:cNvPr id="43069" name="CuadroTexto 12">
            <a:extLst>
              <a:ext uri="{FF2B5EF4-FFF2-40B4-BE49-F238E27FC236}">
                <a16:creationId xmlns:a16="http://schemas.microsoft.com/office/drawing/2014/main" id="{7933BF5E-DC57-491A-AD72-095785A77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98A04B09-6CA7-4224-BAA9-4228B32593CE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21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99" y="1237237"/>
            <a:ext cx="7094703" cy="5528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>
            <a:extLst>
              <a:ext uri="{FF2B5EF4-FFF2-40B4-BE49-F238E27FC236}">
                <a16:creationId xmlns:a16="http://schemas.microsoft.com/office/drawing/2014/main" id="{6038783A-8965-49D9-8FB6-0310B3BBB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705293"/>
            <a:ext cx="8604250" cy="73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600" b="0" dirty="0">
                <a:solidFill>
                  <a:schemeClr val="accent2"/>
                </a:solidFill>
              </a:rPr>
              <a:t>Diagrama de PVSYST de pérdidas por sobrecarga con </a:t>
            </a:r>
            <a:r>
              <a:rPr lang="es-ES_tradnl" altLang="es-ES" sz="1600" b="0" dirty="0" smtClean="0">
                <a:solidFill>
                  <a:schemeClr val="accent2"/>
                </a:solidFill>
              </a:rPr>
              <a:t>tensiones límite </a:t>
            </a:r>
            <a:r>
              <a:rPr lang="es-ES_tradnl" altLang="es-ES" sz="1600" b="0" dirty="0">
                <a:solidFill>
                  <a:schemeClr val="accent2"/>
                </a:solidFill>
              </a:rPr>
              <a:t>y potencia del inversor y curvas I-V del generador fotovoltaico para temperaturas extremas consideradas</a:t>
            </a:r>
            <a:endParaRPr lang="es-ES" altLang="es-ES" sz="1600" b="0" dirty="0">
              <a:solidFill>
                <a:schemeClr val="accent2"/>
              </a:solidFill>
            </a:endParaRPr>
          </a:p>
        </p:txBody>
      </p:sp>
      <p:sp>
        <p:nvSpPr>
          <p:cNvPr id="36867" name="Text Box 2">
            <a:extLst>
              <a:ext uri="{FF2B5EF4-FFF2-40B4-BE49-F238E27FC236}">
                <a16:creationId xmlns:a16="http://schemas.microsoft.com/office/drawing/2014/main" id="{F750246D-E607-47D4-88D3-D4BF2787D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86042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es-ES" sz="1800" dirty="0">
                <a:solidFill>
                  <a:schemeClr val="accent2"/>
                </a:solidFill>
              </a:rPr>
              <a:t>Sistema fotovoltaico: ajuste </a:t>
            </a:r>
            <a:r>
              <a:rPr lang="es-ES_tradnl" altLang="es-ES" sz="1800" dirty="0" smtClean="0">
                <a:solidFill>
                  <a:schemeClr val="accent2"/>
                </a:solidFill>
              </a:rPr>
              <a:t>inversor </a:t>
            </a:r>
            <a:r>
              <a:rPr lang="es-ES_tradnl" altLang="es-ES" sz="1800" dirty="0">
                <a:solidFill>
                  <a:schemeClr val="accent2"/>
                </a:solidFill>
              </a:rPr>
              <a:t>– asociación fotovoltaica</a:t>
            </a:r>
            <a:endParaRPr lang="es-ES" altLang="es-ES" sz="1800" dirty="0">
              <a:solidFill>
                <a:schemeClr val="accent2"/>
              </a:solidFill>
            </a:endParaRPr>
          </a:p>
        </p:txBody>
      </p:sp>
      <p:grpSp>
        <p:nvGrpSpPr>
          <p:cNvPr id="4" name="4 Grupo">
            <a:extLst>
              <a:ext uri="{FF2B5EF4-FFF2-40B4-BE49-F238E27FC236}">
                <a16:creationId xmlns:a16="http://schemas.microsoft.com/office/drawing/2014/main" id="{57491A1F-E131-4061-A540-97CB80248CDC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5" name="5 Elipse">
              <a:extLst>
                <a:ext uri="{FF2B5EF4-FFF2-40B4-BE49-F238E27FC236}">
                  <a16:creationId xmlns:a16="http://schemas.microsoft.com/office/drawing/2014/main" id="{4AC5F388-6E31-4D82-9CB2-7B24A3818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6" name="6 Flecha derecha">
              <a:extLst>
                <a:ext uri="{FF2B5EF4-FFF2-40B4-BE49-F238E27FC236}">
                  <a16:creationId xmlns:a16="http://schemas.microsoft.com/office/drawing/2014/main" id="{4A88B5B8-70DC-4BE6-81D7-602AE3612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1772816"/>
            <a:ext cx="8724900" cy="400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8" name="4 Grupo">
            <a:extLst>
              <a:ext uri="{FF2B5EF4-FFF2-40B4-BE49-F238E27FC236}">
                <a16:creationId xmlns:a16="http://schemas.microsoft.com/office/drawing/2014/main" id="{ABFE0856-7693-4C79-97C8-31BD70D37861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6189" name="5 Elipse">
              <a:extLst>
                <a:ext uri="{FF2B5EF4-FFF2-40B4-BE49-F238E27FC236}">
                  <a16:creationId xmlns:a16="http://schemas.microsoft.com/office/drawing/2014/main" id="{F675A794-280A-476B-8770-68B0265BE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6190" name="6 Flecha derecha">
              <a:extLst>
                <a:ext uri="{FF2B5EF4-FFF2-40B4-BE49-F238E27FC236}">
                  <a16:creationId xmlns:a16="http://schemas.microsoft.com/office/drawing/2014/main" id="{C2B3C922-84AF-44BD-BA2E-26D28098F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6149" name="Text Box 2">
            <a:extLst>
              <a:ext uri="{FF2B5EF4-FFF2-40B4-BE49-F238E27FC236}">
                <a16:creationId xmlns:a16="http://schemas.microsoft.com/office/drawing/2014/main" id="{E5F22DB1-9FD9-4621-BCA1-9C8311D8F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378" y="186110"/>
            <a:ext cx="5779244" cy="414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 dirty="0">
                <a:solidFill>
                  <a:schemeClr val="accent2"/>
                </a:solidFill>
              </a:rPr>
              <a:t>Características generales del sistema fotovoltaico</a:t>
            </a:r>
            <a:endParaRPr lang="es-ES" altLang="es-ES" sz="1800" dirty="0">
              <a:solidFill>
                <a:schemeClr val="accent2"/>
              </a:solidFill>
            </a:endParaRPr>
          </a:p>
        </p:txBody>
      </p:sp>
      <p:graphicFrame>
        <p:nvGraphicFramePr>
          <p:cNvPr id="9" name="Group 222">
            <a:extLst>
              <a:ext uri="{FF2B5EF4-FFF2-40B4-BE49-F238E27FC236}">
                <a16:creationId xmlns:a16="http://schemas.microsoft.com/office/drawing/2014/main" id="{52D43F07-5179-47FD-BEB8-1FDF6F169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843663"/>
              </p:ext>
            </p:extLst>
          </p:nvPr>
        </p:nvGraphicFramePr>
        <p:xfrm>
          <a:off x="1367644" y="908050"/>
          <a:ext cx="6408712" cy="4266240"/>
        </p:xfrm>
        <a:graphic>
          <a:graphicData uri="http://schemas.openxmlformats.org/drawingml/2006/table">
            <a:tbl>
              <a:tblPr/>
              <a:tblGrid>
                <a:gridCol w="396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7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Identificación del edificio o parcela</a:t>
                      </a:r>
                    </a:p>
                  </a:txBody>
                  <a:tcPr marL="89998" marR="89998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9998" marR="89998" marT="72000" marB="7200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Potencia fotovoltaica (</a:t>
                      </a:r>
                      <a:r>
                        <a:rPr kumimoji="0" lang="es-E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kWp</a:t>
                      </a: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8" marR="89998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9998" marR="89998" marT="72000" marB="7200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7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Asociación de módulos Np x </a:t>
                      </a:r>
                      <a:r>
                        <a:rPr kumimoji="0" lang="es-E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Ns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8" marR="89998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9998" marR="89998" marT="72000" marB="7200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266297"/>
                  </a:ext>
                </a:extLst>
              </a:tr>
              <a:tr h="3157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Potencia de inversores (</a:t>
                      </a:r>
                      <a:r>
                        <a:rPr kumimoji="0" lang="es-E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kW</a:t>
                      </a: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8" marR="89998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9998" marR="89998" marT="72000" marB="7200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68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 typeface="Wingdings 3" pitchFamily="18" charset="2"/>
                        <a:buNone/>
                      </a:pPr>
                      <a:r>
                        <a:rPr lang="es-ES_tradnl" sz="1600" b="1" u="none" dirty="0">
                          <a:solidFill>
                            <a:schemeClr val="accent2"/>
                          </a:solidFill>
                          <a:cs typeface="Times New Roman" pitchFamily="18" charset="0"/>
                        </a:rPr>
                        <a:t>Ratio potencia DC/AC</a:t>
                      </a:r>
                    </a:p>
                  </a:txBody>
                  <a:tcPr marL="89998" marR="89998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9998" marR="89998" marT="72000" marB="7200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7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Pérdidas por sombreado (%)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9" marR="89999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9998" marR="89998" marT="72000" marB="7200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980985"/>
                  </a:ext>
                </a:extLst>
              </a:tr>
              <a:tr h="3157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Pérdidas por orientación e inclinación (%)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9" marR="89999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9998" marR="89998" marT="72000" marB="7200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069973"/>
                  </a:ext>
                </a:extLst>
              </a:tr>
              <a:tr h="3157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 3" pitchFamily="18" charset="2"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Tipo de autoconsumo</a:t>
                      </a:r>
                      <a:endParaRPr lang="es-ES_tradnl" sz="1600" b="0" u="none" dirty="0">
                        <a:solidFill>
                          <a:schemeClr val="accent2"/>
                        </a:solidFill>
                        <a:cs typeface="Times New Roman" pitchFamily="18" charset="0"/>
                      </a:endParaRPr>
                    </a:p>
                  </a:txBody>
                  <a:tcPr marL="89998" marR="89998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9998" marR="89998" marT="72000" marB="7200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7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 3" pitchFamily="18" charset="2"/>
                        <a:buNone/>
                        <a:tabLst/>
                        <a:defRPr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Área ocupada (m</a:t>
                      </a:r>
                      <a:r>
                        <a:rPr kumimoji="0" lang="es-ES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2</a:t>
                      </a: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)</a:t>
                      </a:r>
                      <a:endParaRPr lang="es-ES_tradnl" sz="1600" b="0" u="none" dirty="0">
                        <a:solidFill>
                          <a:schemeClr val="accent2"/>
                        </a:solidFill>
                        <a:cs typeface="Times New Roman" pitchFamily="18" charset="0"/>
                      </a:endParaRPr>
                    </a:p>
                  </a:txBody>
                  <a:tcPr marL="89998" marR="89998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9998" marR="89998" marT="72000" marB="7200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7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 3" pitchFamily="18" charset="2"/>
                        <a:buNone/>
                        <a:tabLst/>
                        <a:defRPr/>
                      </a:pPr>
                      <a:r>
                        <a:rPr lang="es-ES_tradnl" sz="1600" b="0" u="none" dirty="0">
                          <a:solidFill>
                            <a:schemeClr val="accent2"/>
                          </a:solidFill>
                          <a:cs typeface="Times New Roman" pitchFamily="18" charset="0"/>
                        </a:rPr>
                        <a:t>Ubicación de</a:t>
                      </a:r>
                      <a:r>
                        <a:rPr lang="es-ES_tradnl" sz="1600" b="0" u="none" baseline="0" dirty="0">
                          <a:solidFill>
                            <a:schemeClr val="accent2"/>
                          </a:solidFill>
                          <a:cs typeface="Times New Roman" pitchFamily="18" charset="0"/>
                        </a:rPr>
                        <a:t> inversor(es)</a:t>
                      </a:r>
                      <a:endParaRPr lang="es-ES_tradnl" sz="1600" b="0" u="none" dirty="0">
                        <a:solidFill>
                          <a:schemeClr val="accent2"/>
                        </a:solidFill>
                        <a:cs typeface="Times New Roman" pitchFamily="18" charset="0"/>
                      </a:endParaRPr>
                    </a:p>
                  </a:txBody>
                  <a:tcPr marL="89998" marR="89998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9998" marR="89998" marT="72000" marB="7200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7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 3" pitchFamily="18" charset="2"/>
                        <a:buNone/>
                        <a:tabLst/>
                        <a:defRPr/>
                      </a:pPr>
                      <a:r>
                        <a:rPr lang="es-ES_tradnl" sz="1600" b="0" u="none" dirty="0">
                          <a:solidFill>
                            <a:schemeClr val="accent2"/>
                          </a:solidFill>
                          <a:cs typeface="Times New Roman" pitchFamily="18" charset="0"/>
                        </a:rPr>
                        <a:t>Punto de conexión</a:t>
                      </a:r>
                    </a:p>
                  </a:txBody>
                  <a:tcPr marL="89998" marR="89998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9998" marR="89998" marT="72000" marB="7200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188" name="CuadroTexto 9">
            <a:extLst>
              <a:ext uri="{FF2B5EF4-FFF2-40B4-BE49-F238E27FC236}">
                <a16:creationId xmlns:a16="http://schemas.microsoft.com/office/drawing/2014/main" id="{E593E0B6-D206-4B7D-AEC5-C5719DFEB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D6693CAB-CA8C-4051-965E-1ED08738EC3F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23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8">
                <a:extLst>
                  <a:ext uri="{FF2B5EF4-FFF2-40B4-BE49-F238E27FC236}">
                    <a16:creationId xmlns:a16="http://schemas.microsoft.com/office/drawing/2014/main" id="{CCF53850-574F-4B89-A564-2561BB100330}"/>
                  </a:ext>
                </a:extLst>
              </p:cNvPr>
              <p:cNvSpPr txBox="1"/>
              <p:nvPr/>
            </p:nvSpPr>
            <p:spPr bwMode="auto">
              <a:xfrm>
                <a:off x="1187624" y="5373216"/>
                <a:ext cx="2952328" cy="690344"/>
              </a:xfrm>
              <a:prstGeom prst="rect">
                <a:avLst/>
              </a:prstGeom>
              <a:noFill/>
            </p:spPr>
            <p:txBody>
              <a:bodyPr wrap="none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1600" b="0" i="0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Ratio</m:t>
                      </m:r>
                      <m:r>
                        <a:rPr lang="es-ES" sz="1600" b="0" i="0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b="0" i="0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DC</m:t>
                      </m:r>
                      <m:r>
                        <a:rPr lang="es-ES" sz="1600" b="0" i="0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S" sz="1600" b="0" i="0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AC</m:t>
                      </m:r>
                      <m:r>
                        <a:rPr lang="es-ES" sz="1600" b="0" i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6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1600" b="0" i="0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fotovoltaica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16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1600" b="0" i="0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inversor</m:t>
                              </m:r>
                              <m: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sz="1600" b="0" u="non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bject 8">
                <a:extLst>
                  <a:ext uri="{FF2B5EF4-FFF2-40B4-BE49-F238E27FC236}">
                    <a16:creationId xmlns:a16="http://schemas.microsoft.com/office/drawing/2014/main" id="{CCF53850-574F-4B89-A564-2561BB100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624" y="5373216"/>
                <a:ext cx="2952328" cy="6903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8">
                <a:extLst>
                  <a:ext uri="{FF2B5EF4-FFF2-40B4-BE49-F238E27FC236}">
                    <a16:creationId xmlns:a16="http://schemas.microsoft.com/office/drawing/2014/main" id="{233337E5-507F-475C-8702-37645F3D4621}"/>
                  </a:ext>
                </a:extLst>
              </p:cNvPr>
              <p:cNvSpPr txBox="1"/>
              <p:nvPr/>
            </p:nvSpPr>
            <p:spPr bwMode="auto">
              <a:xfrm>
                <a:off x="5529988" y="5373216"/>
                <a:ext cx="2952328" cy="690344"/>
              </a:xfrm>
              <a:prstGeom prst="rect">
                <a:avLst/>
              </a:prstGeom>
              <a:noFill/>
            </p:spPr>
            <p:txBody>
              <a:bodyPr wrap="none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GCR</m:t>
                      </m:r>
                      <m:r>
                        <a:rPr lang="es-ES" sz="1600" b="0" i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6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tejado</m:t>
                              </m:r>
                              <m:r>
                                <m:rPr>
                                  <m:nor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parcela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1600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m:rPr>
                                  <m:sty m:val="p"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dulos</m:t>
                              </m:r>
                              <m: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ES" sz="1600" b="0" i="0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FV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sz="1600" b="0" u="non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bject 8">
                <a:extLst>
                  <a:ext uri="{FF2B5EF4-FFF2-40B4-BE49-F238E27FC236}">
                    <a16:creationId xmlns:a16="http://schemas.microsoft.com/office/drawing/2014/main" id="{233337E5-507F-475C-8702-37645F3D4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9988" y="5373216"/>
                <a:ext cx="2952328" cy="6903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>
            <a:extLst>
              <a:ext uri="{FF2B5EF4-FFF2-40B4-BE49-F238E27FC236}">
                <a16:creationId xmlns:a16="http://schemas.microsoft.com/office/drawing/2014/main" id="{BD799C4D-E2C9-4333-827A-2F555EE06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121648"/>
            <a:ext cx="72771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dirty="0">
                <a:solidFill>
                  <a:schemeClr val="accent2"/>
                </a:solidFill>
              </a:rPr>
              <a:t>Esquema eléctrico de conexión de la instalación fotovoltaica a la red del usuario o de la compañía eléctrica</a:t>
            </a:r>
            <a:endParaRPr lang="es-ES" altLang="es-ES" sz="1600" dirty="0">
              <a:solidFill>
                <a:schemeClr val="accent2"/>
              </a:solidFill>
            </a:endParaRPr>
          </a:p>
        </p:txBody>
      </p:sp>
      <p:grpSp>
        <p:nvGrpSpPr>
          <p:cNvPr id="48131" name="4 Grupo">
            <a:extLst>
              <a:ext uri="{FF2B5EF4-FFF2-40B4-BE49-F238E27FC236}">
                <a16:creationId xmlns:a16="http://schemas.microsoft.com/office/drawing/2014/main" id="{F0034A34-2E61-4013-9756-BBD7DE93623E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48134" name="5 Elipse">
              <a:extLst>
                <a:ext uri="{FF2B5EF4-FFF2-40B4-BE49-F238E27FC236}">
                  <a16:creationId xmlns:a16="http://schemas.microsoft.com/office/drawing/2014/main" id="{6EA98F6B-5120-47EE-86F8-CBB12E03E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48135" name="6 Flecha derecha">
              <a:extLst>
                <a:ext uri="{FF2B5EF4-FFF2-40B4-BE49-F238E27FC236}">
                  <a16:creationId xmlns:a16="http://schemas.microsoft.com/office/drawing/2014/main" id="{EA456A4C-B5C0-4756-BD45-6A75B7F9B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48132" name="Text Box 4">
            <a:extLst>
              <a:ext uri="{FF2B5EF4-FFF2-40B4-BE49-F238E27FC236}">
                <a16:creationId xmlns:a16="http://schemas.microsoft.com/office/drawing/2014/main" id="{ACE1D8F4-6337-4A31-9FCA-C6F91DB39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65850"/>
            <a:ext cx="9144000" cy="379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600" b="0" i="1" dirty="0">
                <a:solidFill>
                  <a:schemeClr val="tx1"/>
                </a:solidFill>
              </a:rPr>
              <a:t>Identificar con que esquema tipo </a:t>
            </a:r>
            <a:r>
              <a:rPr lang="es-ES_tradnl" altLang="es-ES" sz="1600" b="0" i="1" dirty="0" smtClean="0">
                <a:solidFill>
                  <a:schemeClr val="tx1"/>
                </a:solidFill>
              </a:rPr>
              <a:t>se </a:t>
            </a:r>
            <a:r>
              <a:rPr lang="es-ES_tradnl" altLang="es-ES" sz="1600" b="0" i="1" dirty="0">
                <a:solidFill>
                  <a:schemeClr val="tx1"/>
                </a:solidFill>
              </a:rPr>
              <a:t>corresponde e identificar los puntos de medida</a:t>
            </a:r>
            <a:endParaRPr lang="es-ES" altLang="es-ES" sz="1600" b="0" i="1" dirty="0">
              <a:solidFill>
                <a:schemeClr val="tx1"/>
              </a:solidFill>
            </a:endParaRPr>
          </a:p>
        </p:txBody>
      </p:sp>
      <p:sp>
        <p:nvSpPr>
          <p:cNvPr id="48133" name="CuadroTexto 6">
            <a:extLst>
              <a:ext uri="{FF2B5EF4-FFF2-40B4-BE49-F238E27FC236}">
                <a16:creationId xmlns:a16="http://schemas.microsoft.com/office/drawing/2014/main" id="{6E994489-3BDC-4A5C-9C62-3FF4FF4B5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8F0240A3-D8C2-428F-A924-03556CAE61A8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24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>
            <a:extLst>
              <a:ext uri="{FF2B5EF4-FFF2-40B4-BE49-F238E27FC236}">
                <a16:creationId xmlns:a16="http://schemas.microsoft.com/office/drawing/2014/main" id="{CB03CEA5-A2E9-49C1-BBD5-2E423E12C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916" y="115888"/>
            <a:ext cx="72771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>
                <a:solidFill>
                  <a:schemeClr val="accent2"/>
                </a:solidFill>
              </a:rPr>
              <a:t>Sistema soporte de los módulos fotovoltaicos</a:t>
            </a:r>
            <a:endParaRPr lang="es-ES" altLang="es-ES" sz="1600" dirty="0">
              <a:solidFill>
                <a:schemeClr val="accent2"/>
              </a:solidFill>
            </a:endParaRPr>
          </a:p>
        </p:txBody>
      </p:sp>
      <p:grpSp>
        <p:nvGrpSpPr>
          <p:cNvPr id="49155" name="4 Grupo">
            <a:extLst>
              <a:ext uri="{FF2B5EF4-FFF2-40B4-BE49-F238E27FC236}">
                <a16:creationId xmlns:a16="http://schemas.microsoft.com/office/drawing/2014/main" id="{CBDB5E99-B61C-4503-B800-46285D245029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49168" name="5 Elipse">
              <a:extLst>
                <a:ext uri="{FF2B5EF4-FFF2-40B4-BE49-F238E27FC236}">
                  <a16:creationId xmlns:a16="http://schemas.microsoft.com/office/drawing/2014/main" id="{963747B5-8953-4721-9B2B-0F2058EE2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49169" name="6 Flecha derecha">
              <a:extLst>
                <a:ext uri="{FF2B5EF4-FFF2-40B4-BE49-F238E27FC236}">
                  <a16:creationId xmlns:a16="http://schemas.microsoft.com/office/drawing/2014/main" id="{11AB4412-E208-48AD-9DEC-827970E9A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pSp>
        <p:nvGrpSpPr>
          <p:cNvPr id="49156" name="6 Grupo">
            <a:extLst>
              <a:ext uri="{FF2B5EF4-FFF2-40B4-BE49-F238E27FC236}">
                <a16:creationId xmlns:a16="http://schemas.microsoft.com/office/drawing/2014/main" id="{895F5DBB-20DA-4388-BFF1-41379F60442A}"/>
              </a:ext>
            </a:extLst>
          </p:cNvPr>
          <p:cNvGrpSpPr>
            <a:grpSpLocks/>
          </p:cNvGrpSpPr>
          <p:nvPr/>
        </p:nvGrpSpPr>
        <p:grpSpPr bwMode="auto">
          <a:xfrm>
            <a:off x="1568538" y="5343568"/>
            <a:ext cx="936625" cy="1570037"/>
            <a:chOff x="395536" y="908720"/>
            <a:chExt cx="936104" cy="1569660"/>
          </a:xfrm>
        </p:grpSpPr>
        <p:sp>
          <p:nvSpPr>
            <p:cNvPr id="49166" name="8 Rectángulo">
              <a:extLst>
                <a:ext uri="{FF2B5EF4-FFF2-40B4-BE49-F238E27FC236}">
                  <a16:creationId xmlns:a16="http://schemas.microsoft.com/office/drawing/2014/main" id="{2E545689-4568-48F1-BEAA-CA65D9ECA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49167" name="9 Elipse">
              <a:extLst>
                <a:ext uri="{FF2B5EF4-FFF2-40B4-BE49-F238E27FC236}">
                  <a16:creationId xmlns:a16="http://schemas.microsoft.com/office/drawing/2014/main" id="{824B75B7-BE17-4798-8231-EA46659D2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11" name="10 Tabla">
            <a:extLst>
              <a:ext uri="{FF2B5EF4-FFF2-40B4-BE49-F238E27FC236}">
                <a16:creationId xmlns:a16="http://schemas.microsoft.com/office/drawing/2014/main" id="{8E302A23-D1DA-480D-BFE8-632B70BA8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010579"/>
              </p:ext>
            </p:extLst>
          </p:nvPr>
        </p:nvGraphicFramePr>
        <p:xfrm>
          <a:off x="1468524" y="5557880"/>
          <a:ext cx="6206951" cy="1069890"/>
        </p:xfrm>
        <a:graphic>
          <a:graphicData uri="http://schemas.openxmlformats.org/drawingml/2006/table">
            <a:tbl>
              <a:tblPr/>
              <a:tblGrid>
                <a:gridCol w="112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8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988">
                <a:tc>
                  <a:txBody>
                    <a:bodyPr/>
                    <a:lstStyle/>
                    <a:p>
                      <a:endParaRPr lang="es-ES" sz="1900" dirty="0"/>
                    </a:p>
                  </a:txBody>
                  <a:tcPr marL="91452" marR="91452" marT="47265" marB="4726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s-ES_tradnl" sz="1700" b="0" i="1" dirty="0">
                          <a:solidFill>
                            <a:schemeClr val="tx1"/>
                          </a:solidFill>
                        </a:rPr>
                        <a:t>Describir con imágenes y especificaciones técnicas la solución comercial propuesta para el sistema soporte de los módulos fotovoltaicos</a:t>
                      </a:r>
                      <a:endParaRPr lang="es-ES" sz="17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7265" marB="4726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165" name="CuadroTexto 9">
            <a:extLst>
              <a:ext uri="{FF2B5EF4-FFF2-40B4-BE49-F238E27FC236}">
                <a16:creationId xmlns:a16="http://schemas.microsoft.com/office/drawing/2014/main" id="{21A08568-4A3F-4FA0-8C2B-6FEAECDC9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5AF1995A-05EC-4B49-96B8-8E1AF220ED05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25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id="{F41ED5B1-524C-41C0-BFC9-9B74C8969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916" y="632618"/>
            <a:ext cx="72771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600" dirty="0">
                <a:solidFill>
                  <a:schemeClr val="accent2"/>
                </a:solidFill>
              </a:rPr>
              <a:t>Describir la solución comercial elegida</a:t>
            </a:r>
            <a:endParaRPr lang="es-ES" altLang="es-ES" sz="1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52BBBD4F-885D-47CB-B5D1-F960545A1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0465" y="96984"/>
            <a:ext cx="6703070" cy="414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 dirty="0" err="1">
                <a:solidFill>
                  <a:schemeClr val="accent2"/>
                </a:solidFill>
              </a:rPr>
              <a:t>Hipótesis</a:t>
            </a:r>
            <a:r>
              <a:rPr lang="es-ES_tradnl" altLang="es-ES" sz="1800" dirty="0">
                <a:solidFill>
                  <a:schemeClr val="accent2"/>
                </a:solidFill>
              </a:rPr>
              <a:t> para el cálculo de pérdidas de energía en </a:t>
            </a:r>
            <a:r>
              <a:rPr lang="es-ES_tradnl" altLang="es-ES" sz="1800" dirty="0" err="1">
                <a:solidFill>
                  <a:schemeClr val="accent2"/>
                </a:solidFill>
              </a:rPr>
              <a:t>PVsyst</a:t>
            </a:r>
            <a:endParaRPr lang="es-ES" altLang="es-ES" sz="1800" dirty="0">
              <a:solidFill>
                <a:schemeClr val="accent2"/>
              </a:solidFill>
            </a:endParaRPr>
          </a:p>
        </p:txBody>
      </p:sp>
      <p:sp>
        <p:nvSpPr>
          <p:cNvPr id="50179" name="Rectangle 6">
            <a:extLst>
              <a:ext uri="{FF2B5EF4-FFF2-40B4-BE49-F238E27FC236}">
                <a16:creationId xmlns:a16="http://schemas.microsoft.com/office/drawing/2014/main" id="{C36E8AC7-8C47-4745-8C13-5E9136DFC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14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s-ES" altLang="es-ES"/>
          </a:p>
        </p:txBody>
      </p:sp>
      <p:grpSp>
        <p:nvGrpSpPr>
          <p:cNvPr id="50180" name="6 Grupo">
            <a:extLst>
              <a:ext uri="{FF2B5EF4-FFF2-40B4-BE49-F238E27FC236}">
                <a16:creationId xmlns:a16="http://schemas.microsoft.com/office/drawing/2014/main" id="{AFA81510-FDDF-42A2-B726-31E538C56FE1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50225" name="7 Elipse">
              <a:extLst>
                <a:ext uri="{FF2B5EF4-FFF2-40B4-BE49-F238E27FC236}">
                  <a16:creationId xmlns:a16="http://schemas.microsoft.com/office/drawing/2014/main" id="{EC5E9A82-3654-4B9C-B542-77B45CF8F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50226" name="8 Flecha derecha">
              <a:extLst>
                <a:ext uri="{FF2B5EF4-FFF2-40B4-BE49-F238E27FC236}">
                  <a16:creationId xmlns:a16="http://schemas.microsoft.com/office/drawing/2014/main" id="{AEF78285-A01F-4202-9DC7-0BA5D24FA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10" name="Text Box 79">
            <a:extLst>
              <a:ext uri="{FF2B5EF4-FFF2-40B4-BE49-F238E27FC236}">
                <a16:creationId xmlns:a16="http://schemas.microsoft.com/office/drawing/2014/main" id="{11EC2FE8-01D1-41A0-9CF2-BEA811F4E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218" y="6317908"/>
            <a:ext cx="857250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52500" indent="-9525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 sz="1600" b="0" i="1" dirty="0">
                <a:solidFill>
                  <a:schemeClr val="tx1"/>
                </a:solidFill>
              </a:rPr>
              <a:t>* Indicar la fuente de la hipótesis o del dato considerado </a:t>
            </a:r>
            <a:endParaRPr lang="es-ES" altLang="es-ES" sz="1600" b="0" i="1" dirty="0">
              <a:solidFill>
                <a:schemeClr val="tx1"/>
              </a:solidFill>
            </a:endParaRPr>
          </a:p>
        </p:txBody>
      </p:sp>
      <p:sp>
        <p:nvSpPr>
          <p:cNvPr id="50182" name="CuadroTexto 7">
            <a:extLst>
              <a:ext uri="{FF2B5EF4-FFF2-40B4-BE49-F238E27FC236}">
                <a16:creationId xmlns:a16="http://schemas.microsoft.com/office/drawing/2014/main" id="{D5DAF08E-A695-494D-9F80-D090932A6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34F704B8-EE25-4E4B-9CB6-96AAA70B6023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26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graphicFrame>
        <p:nvGraphicFramePr>
          <p:cNvPr id="9" name="Group 41">
            <a:extLst>
              <a:ext uri="{FF2B5EF4-FFF2-40B4-BE49-F238E27FC236}">
                <a16:creationId xmlns:a16="http://schemas.microsoft.com/office/drawing/2014/main" id="{86810104-E9E5-4956-A646-82B9C5A0B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370771"/>
              </p:ext>
            </p:extLst>
          </p:nvPr>
        </p:nvGraphicFramePr>
        <p:xfrm>
          <a:off x="827088" y="620713"/>
          <a:ext cx="7489825" cy="5492534"/>
        </p:xfrm>
        <a:graphic>
          <a:graphicData uri="http://schemas.openxmlformats.org/drawingml/2006/table">
            <a:tbl>
              <a:tblPr/>
              <a:tblGrid>
                <a:gridCol w="4465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Tipo o parámetro de pérdidas </a:t>
                      </a: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_tradnl" sz="1600" dirty="0">
                          <a:solidFill>
                            <a:schemeClr val="accent2"/>
                          </a:solidFill>
                        </a:rPr>
                        <a:t>Hipótesis*</a:t>
                      </a:r>
                      <a:endParaRPr kumimoji="0" lang="es-E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Fuente</a:t>
                      </a: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6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altLang="es-ES" sz="1600" b="0" dirty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Pérdidas térmicas</a:t>
                      </a:r>
                      <a:endParaRPr kumimoji="0" lang="es-E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9" marR="89999" marT="107994" marB="1079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6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es-ES" sz="1600" b="0" dirty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Pérdidas eléctricas</a:t>
                      </a:r>
                      <a:endParaRPr kumimoji="0" lang="es-E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9" marR="89999" marT="107994" marB="1079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6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altLang="es-ES" sz="1600" b="0" dirty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Pérdidas por tolerancia de la potencia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9" marR="89999" marT="107994" marB="1079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altLang="es-ES" sz="1600" b="0" dirty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Pérdidas por degradación de potencia inducida por luz LID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9" marR="89999" marT="107994" marB="1079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6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altLang="es-ES" sz="1600" b="0" dirty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Pérdidas por degradación de potencia inducida por potencial PID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9" marR="89999" marT="107994" marB="1079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altLang="es-ES" sz="1600" b="0" dirty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Pérdidas por dispersión de parámetros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9" marR="89999" marT="107994" marB="1079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altLang="es-ES" sz="1600" b="0" dirty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Pérdidas por suciedad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9" marR="89999" marT="107994" marB="1079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altLang="es-ES" sz="1600" b="0" dirty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Pérdidas por ángulo de incidencia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9" marR="89999" marT="107994" marB="1079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0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altLang="es-ES" sz="1600" b="0" dirty="0">
                          <a:solidFill>
                            <a:schemeClr val="accent2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Pérdidas por indisponibilidad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99" marR="89999" marT="107994" marB="1079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2" marR="133352" marT="133384" marB="1333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73696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>
            <a:extLst>
              <a:ext uri="{FF2B5EF4-FFF2-40B4-BE49-F238E27FC236}">
                <a16:creationId xmlns:a16="http://schemas.microsoft.com/office/drawing/2014/main" id="{CBD9883D-978F-40C0-BC7E-56CFA2805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06500"/>
            <a:ext cx="9144000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 b="0" dirty="0">
                <a:solidFill>
                  <a:schemeClr val="accent2"/>
                </a:solidFill>
              </a:rPr>
              <a:t>Curvas de trayectoria solares con el perfil del horizonte del emplazamiento</a:t>
            </a:r>
            <a:endParaRPr lang="es-ES" altLang="es-ES" sz="1800" b="0" dirty="0">
              <a:solidFill>
                <a:schemeClr val="accent2"/>
              </a:solidFill>
            </a:endParaRPr>
          </a:p>
        </p:txBody>
      </p:sp>
      <p:sp>
        <p:nvSpPr>
          <p:cNvPr id="45059" name="Text Box 2">
            <a:extLst>
              <a:ext uri="{FF2B5EF4-FFF2-40B4-BE49-F238E27FC236}">
                <a16:creationId xmlns:a16="http://schemas.microsoft.com/office/drawing/2014/main" id="{6445CF3A-D6EA-4F93-9D49-6E00B8BD4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725488"/>
            <a:ext cx="8604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es-ES" sz="1800">
                <a:solidFill>
                  <a:srgbClr val="7030A0"/>
                </a:solidFill>
              </a:rPr>
              <a:t>Perfil del horizonte</a:t>
            </a:r>
            <a:endParaRPr lang="es-ES" altLang="es-ES" sz="1800">
              <a:solidFill>
                <a:srgbClr val="7030A0"/>
              </a:solidFill>
            </a:endParaRPr>
          </a:p>
        </p:txBody>
      </p:sp>
      <p:sp>
        <p:nvSpPr>
          <p:cNvPr id="45060" name="Text Box 2">
            <a:extLst>
              <a:ext uri="{FF2B5EF4-FFF2-40B4-BE49-F238E27FC236}">
                <a16:creationId xmlns:a16="http://schemas.microsoft.com/office/drawing/2014/main" id="{C0FB1498-E572-45B0-861F-891924FD5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179388"/>
            <a:ext cx="8604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es-ES">
                <a:solidFill>
                  <a:schemeClr val="accent2"/>
                </a:solidFill>
              </a:rPr>
              <a:t>Análisis energético</a:t>
            </a:r>
            <a:endParaRPr lang="es-ES" altLang="es-ES" dirty="0">
              <a:solidFill>
                <a:schemeClr val="accent2"/>
              </a:solidFill>
            </a:endParaRPr>
          </a:p>
        </p:txBody>
      </p:sp>
      <p:grpSp>
        <p:nvGrpSpPr>
          <p:cNvPr id="5" name="6 Grupo">
            <a:extLst>
              <a:ext uri="{FF2B5EF4-FFF2-40B4-BE49-F238E27FC236}">
                <a16:creationId xmlns:a16="http://schemas.microsoft.com/office/drawing/2014/main" id="{41DF7700-AFD4-4829-97AD-A2ABA18ABF81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6" name="7 Elipse">
              <a:extLst>
                <a:ext uri="{FF2B5EF4-FFF2-40B4-BE49-F238E27FC236}">
                  <a16:creationId xmlns:a16="http://schemas.microsoft.com/office/drawing/2014/main" id="{9AF9A3DB-A3D2-4D03-A534-13654FBFB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7" name="8 Flecha derecha">
              <a:extLst>
                <a:ext uri="{FF2B5EF4-FFF2-40B4-BE49-F238E27FC236}">
                  <a16:creationId xmlns:a16="http://schemas.microsoft.com/office/drawing/2014/main" id="{3328760C-9016-4C85-B5A0-2D9A12B3D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93" y="1718766"/>
            <a:ext cx="7786464" cy="50378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83E1E840-03DE-43AD-A8D9-DB29C63A8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6054"/>
            <a:ext cx="9144000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 b="0" dirty="0">
                <a:solidFill>
                  <a:schemeClr val="accent2"/>
                </a:solidFill>
              </a:rPr>
              <a:t>Situación de PVSYST representativa del diseño realizado</a:t>
            </a:r>
            <a:endParaRPr lang="es-ES" altLang="es-ES" sz="1800" b="0" dirty="0">
              <a:solidFill>
                <a:schemeClr val="accent2"/>
              </a:solidFill>
            </a:endParaRPr>
          </a:p>
        </p:txBody>
      </p:sp>
      <p:sp>
        <p:nvSpPr>
          <p:cNvPr id="46083" name="Text Box 2">
            <a:extLst>
              <a:ext uri="{FF2B5EF4-FFF2-40B4-BE49-F238E27FC236}">
                <a16:creationId xmlns:a16="http://schemas.microsoft.com/office/drawing/2014/main" id="{782783C9-302D-444F-86D2-11C8A8C70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518716"/>
            <a:ext cx="8604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es-ES" sz="1800" dirty="0">
                <a:solidFill>
                  <a:srgbClr val="7030A0"/>
                </a:solidFill>
              </a:rPr>
              <a:t>Representación 3D del edificio y campo fotovoltaico</a:t>
            </a:r>
            <a:endParaRPr lang="es-ES" altLang="es-ES" sz="1800" dirty="0">
              <a:solidFill>
                <a:srgbClr val="7030A0"/>
              </a:solidFill>
            </a:endParaRPr>
          </a:p>
        </p:txBody>
      </p:sp>
      <p:sp>
        <p:nvSpPr>
          <p:cNvPr id="46084" name="Text Box 2">
            <a:extLst>
              <a:ext uri="{FF2B5EF4-FFF2-40B4-BE49-F238E27FC236}">
                <a16:creationId xmlns:a16="http://schemas.microsoft.com/office/drawing/2014/main" id="{D895F738-4E29-4F47-B078-3FB7388EB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192" y="105853"/>
            <a:ext cx="8604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es-ES" dirty="0">
                <a:solidFill>
                  <a:schemeClr val="accent2"/>
                </a:solidFill>
              </a:rPr>
              <a:t>Análisis energético</a:t>
            </a:r>
            <a:endParaRPr lang="es-ES" altLang="es-ES" dirty="0">
              <a:solidFill>
                <a:schemeClr val="accent2"/>
              </a:solidFill>
            </a:endParaRPr>
          </a:p>
        </p:txBody>
      </p:sp>
      <p:grpSp>
        <p:nvGrpSpPr>
          <p:cNvPr id="5" name="6 Grupo">
            <a:extLst>
              <a:ext uri="{FF2B5EF4-FFF2-40B4-BE49-F238E27FC236}">
                <a16:creationId xmlns:a16="http://schemas.microsoft.com/office/drawing/2014/main" id="{7D75C6A6-7350-436D-8843-2ADF227B6C31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6" name="7 Elipse">
              <a:extLst>
                <a:ext uri="{FF2B5EF4-FFF2-40B4-BE49-F238E27FC236}">
                  <a16:creationId xmlns:a16="http://schemas.microsoft.com/office/drawing/2014/main" id="{F3D25491-D6D7-4371-B353-1A0D687CB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7" name="8 Flecha derecha">
              <a:extLst>
                <a:ext uri="{FF2B5EF4-FFF2-40B4-BE49-F238E27FC236}">
                  <a16:creationId xmlns:a16="http://schemas.microsoft.com/office/drawing/2014/main" id="{115C94F0-D99A-4C61-84D1-EF6D34EFC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55" y="1281157"/>
            <a:ext cx="8781092" cy="4730899"/>
          </a:xfrm>
          <a:prstGeom prst="rect">
            <a:avLst/>
          </a:prstGeom>
        </p:spPr>
      </p:pic>
      <p:graphicFrame>
        <p:nvGraphicFramePr>
          <p:cNvPr id="9" name="7 Tabla">
            <a:extLst>
              <a:ext uri="{FF2B5EF4-FFF2-40B4-BE49-F238E27FC236}">
                <a16:creationId xmlns:a16="http://schemas.microsoft.com/office/drawing/2014/main" id="{9B0B3C6A-AD6A-494A-A8A1-4CEB86E61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186016"/>
              </p:ext>
            </p:extLst>
          </p:nvPr>
        </p:nvGraphicFramePr>
        <p:xfrm>
          <a:off x="1800225" y="5805264"/>
          <a:ext cx="5543550" cy="936625"/>
        </p:xfrm>
        <a:graphic>
          <a:graphicData uri="http://schemas.openxmlformats.org/drawingml/2006/table">
            <a:tbl>
              <a:tblPr/>
              <a:tblGrid>
                <a:gridCol w="1007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endParaRPr lang="es-ES" sz="1800" dirty="0"/>
                    </a:p>
                  </a:txBody>
                  <a:tcPr marL="91422" marR="91422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s-ES" sz="1600" b="0" i="1" dirty="0">
                          <a:solidFill>
                            <a:schemeClr val="tx1"/>
                          </a:solidFill>
                        </a:rPr>
                        <a:t>Incluir</a:t>
                      </a:r>
                      <a:r>
                        <a:rPr lang="es-ES" sz="1600" b="0" i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600" b="0" i="1" baseline="0" dirty="0" smtClean="0">
                          <a:solidFill>
                            <a:schemeClr val="tx1"/>
                          </a:solidFill>
                        </a:rPr>
                        <a:t>estudios </a:t>
                      </a:r>
                      <a:r>
                        <a:rPr lang="es-ES" sz="1600" b="0" i="1" baseline="0" dirty="0">
                          <a:solidFill>
                            <a:schemeClr val="tx1"/>
                          </a:solidFill>
                        </a:rPr>
                        <a:t>de </a:t>
                      </a:r>
                      <a:r>
                        <a:rPr lang="es-ES" sz="1600" b="0" i="1" baseline="0" dirty="0" smtClean="0">
                          <a:solidFill>
                            <a:schemeClr val="tx1"/>
                          </a:solidFill>
                        </a:rPr>
                        <a:t>sombras si ayudan a entender la solución adoptada, </a:t>
                      </a:r>
                      <a:r>
                        <a:rPr lang="es-ES" sz="1600" b="0" i="1" baseline="0" dirty="0">
                          <a:solidFill>
                            <a:schemeClr val="tx1"/>
                          </a:solidFill>
                        </a:rPr>
                        <a:t>etc.</a:t>
                      </a:r>
                      <a:endParaRPr lang="es-ES" sz="16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91422" marR="91422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" name="6 Grupo">
            <a:extLst>
              <a:ext uri="{FF2B5EF4-FFF2-40B4-BE49-F238E27FC236}">
                <a16:creationId xmlns:a16="http://schemas.microsoft.com/office/drawing/2014/main" id="{1FA40A0C-6AFE-4F54-84F0-00D6CA14BD66}"/>
              </a:ext>
            </a:extLst>
          </p:cNvPr>
          <p:cNvGrpSpPr>
            <a:grpSpLocks/>
          </p:cNvGrpSpPr>
          <p:nvPr/>
        </p:nvGrpSpPr>
        <p:grpSpPr bwMode="auto">
          <a:xfrm>
            <a:off x="1763688" y="5603378"/>
            <a:ext cx="935038" cy="1570038"/>
            <a:chOff x="395536" y="908720"/>
            <a:chExt cx="936104" cy="1569660"/>
          </a:xfrm>
        </p:grpSpPr>
        <p:sp>
          <p:nvSpPr>
            <p:cNvPr id="11" name="5 Rectángulo">
              <a:extLst>
                <a:ext uri="{FF2B5EF4-FFF2-40B4-BE49-F238E27FC236}">
                  <a16:creationId xmlns:a16="http://schemas.microsoft.com/office/drawing/2014/main" id="{797577AE-C46F-43D2-870E-9BF8881FF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12" name="6 Elipse">
              <a:extLst>
                <a:ext uri="{FF2B5EF4-FFF2-40B4-BE49-F238E27FC236}">
                  <a16:creationId xmlns:a16="http://schemas.microsoft.com/office/drawing/2014/main" id="{CCBFFA85-6078-487B-8C85-76BB5912E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>
            <a:extLst>
              <a:ext uri="{FF2B5EF4-FFF2-40B4-BE49-F238E27FC236}">
                <a16:creationId xmlns:a16="http://schemas.microsoft.com/office/drawing/2014/main" id="{C3CB2E10-484E-4E4E-9839-AEF0CEC4F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2" y="105713"/>
            <a:ext cx="5629275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 dirty="0">
                <a:solidFill>
                  <a:schemeClr val="accent2"/>
                </a:solidFill>
              </a:rPr>
              <a:t>Análisis energético: diagrama de </a:t>
            </a:r>
            <a:r>
              <a:rPr lang="es-ES_tradnl" altLang="es-ES" sz="1800" dirty="0" err="1" smtClean="0">
                <a:solidFill>
                  <a:schemeClr val="accent2"/>
                </a:solidFill>
              </a:rPr>
              <a:t>Sankey</a:t>
            </a:r>
            <a:endParaRPr lang="es-ES" altLang="es-ES" sz="1800" dirty="0">
              <a:solidFill>
                <a:schemeClr val="accent2"/>
              </a:solidFill>
            </a:endParaRPr>
          </a:p>
        </p:txBody>
      </p:sp>
      <p:grpSp>
        <p:nvGrpSpPr>
          <p:cNvPr id="51204" name="6 Grupo">
            <a:extLst>
              <a:ext uri="{FF2B5EF4-FFF2-40B4-BE49-F238E27FC236}">
                <a16:creationId xmlns:a16="http://schemas.microsoft.com/office/drawing/2014/main" id="{EFA208F3-FE2A-4B86-BC49-3F8A99B8C224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51207" name="7 Elipse">
              <a:extLst>
                <a:ext uri="{FF2B5EF4-FFF2-40B4-BE49-F238E27FC236}">
                  <a16:creationId xmlns:a16="http://schemas.microsoft.com/office/drawing/2014/main" id="{3BD20F97-0403-410A-8036-51C66CD0A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51208" name="8 Flecha derecha">
              <a:extLst>
                <a:ext uri="{FF2B5EF4-FFF2-40B4-BE49-F238E27FC236}">
                  <a16:creationId xmlns:a16="http://schemas.microsoft.com/office/drawing/2014/main" id="{8492274B-EF34-4BC1-8A0D-D4791B144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51206" name="CuadroTexto 7">
            <a:extLst>
              <a:ext uri="{FF2B5EF4-FFF2-40B4-BE49-F238E27FC236}">
                <a16:creationId xmlns:a16="http://schemas.microsoft.com/office/drawing/2014/main" id="{75B498C0-D496-499C-83CF-771176414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32DD8EFC-090C-4531-A0BC-9B432C8B2426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29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t="1863"/>
          <a:stretch/>
        </p:blipFill>
        <p:spPr>
          <a:xfrm>
            <a:off x="2192318" y="620688"/>
            <a:ext cx="4944546" cy="5728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77">
            <a:extLst>
              <a:ext uri="{FF2B5EF4-FFF2-40B4-BE49-F238E27FC236}">
                <a16:creationId xmlns:a16="http://schemas.microsoft.com/office/drawing/2014/main" id="{BF447836-6607-4CF7-89A7-2E563BCA4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427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52500" indent="-9525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 dirty="0">
                <a:solidFill>
                  <a:schemeClr val="accent2"/>
                </a:solidFill>
              </a:rPr>
              <a:t>Cálculo energético: caso de autoconsumo sin acumulación</a:t>
            </a:r>
            <a:endParaRPr lang="es-ES" altLang="es-ES" dirty="0">
              <a:solidFill>
                <a:schemeClr val="accent2"/>
              </a:solidFill>
            </a:endParaRPr>
          </a:p>
        </p:txBody>
      </p:sp>
      <p:pic>
        <p:nvPicPr>
          <p:cNvPr id="57347" name="Picture 15">
            <a:extLst>
              <a:ext uri="{FF2B5EF4-FFF2-40B4-BE49-F238E27FC236}">
                <a16:creationId xmlns:a16="http://schemas.microsoft.com/office/drawing/2014/main" id="{4C5C1165-037D-4221-BDB0-A8E7260D4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79" y="454175"/>
            <a:ext cx="7767637" cy="316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Group 222">
            <a:extLst>
              <a:ext uri="{FF2B5EF4-FFF2-40B4-BE49-F238E27FC236}">
                <a16:creationId xmlns:a16="http://schemas.microsoft.com/office/drawing/2014/main" id="{DBEB2685-02BD-4026-BB4D-706EDFFED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671756"/>
              </p:ext>
            </p:extLst>
          </p:nvPr>
        </p:nvGraphicFramePr>
        <p:xfrm>
          <a:off x="1258884" y="3789040"/>
          <a:ext cx="6626225" cy="1915414"/>
        </p:xfrm>
        <a:graphic>
          <a:graphicData uri="http://schemas.openxmlformats.org/drawingml/2006/table">
            <a:tbl>
              <a:tblPr/>
              <a:tblGrid>
                <a:gridCol w="938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8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E</a:t>
                      </a:r>
                      <a:r>
                        <a:rPr lang="es-ES_tradnl" sz="1400" b="0" u="none" baseline="-25000" dirty="0">
                          <a:solidFill>
                            <a:schemeClr val="accent2"/>
                          </a:solidFill>
                          <a:latin typeface="+mn-lt"/>
                        </a:rPr>
                        <a:t>PV</a:t>
                      </a: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 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Energía generada por el sistema fotovoltaico 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kWh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E</a:t>
                      </a:r>
                      <a:r>
                        <a:rPr lang="es-ES_tradnl" sz="1400" b="0" u="none" baseline="-25000" dirty="0">
                          <a:solidFill>
                            <a:schemeClr val="accent2"/>
                          </a:solidFill>
                          <a:latin typeface="+mn-lt"/>
                        </a:rPr>
                        <a:t>TUN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Energía inyectada en la red de distribución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kWh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8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E</a:t>
                      </a:r>
                      <a:r>
                        <a:rPr lang="es-ES_tradnl" sz="1400" b="0" u="none" baseline="-25000" dirty="0">
                          <a:solidFill>
                            <a:schemeClr val="accent2"/>
                          </a:solidFill>
                          <a:latin typeface="+mn-lt"/>
                        </a:rPr>
                        <a:t>FUN</a:t>
                      </a: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 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Energía consumida de la red de distribución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kWh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8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E</a:t>
                      </a:r>
                      <a:r>
                        <a:rPr lang="es-ES_tradnl" sz="1400" b="0" u="none" baseline="-25000" dirty="0">
                          <a:solidFill>
                            <a:schemeClr val="accent2"/>
                          </a:solidFill>
                          <a:latin typeface="+mn-lt"/>
                        </a:rPr>
                        <a:t>L</a:t>
                      </a: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 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Energía consumida por el usuario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kWh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E</a:t>
                      </a:r>
                      <a:r>
                        <a:rPr lang="es-ES_tradnl" sz="1400" b="0" u="none" baseline="-25000" dirty="0">
                          <a:solidFill>
                            <a:schemeClr val="accent2"/>
                          </a:solidFill>
                          <a:latin typeface="+mn-lt"/>
                        </a:rPr>
                        <a:t>AUTO PV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Bef>
                          <a:spcPts val="600"/>
                        </a:spcBef>
                        <a:tabLst>
                          <a:tab pos="538163" algn="l"/>
                        </a:tabLst>
                      </a:pPr>
                      <a:r>
                        <a:rPr lang="es-ES_tradnl" sz="1400" u="none" dirty="0">
                          <a:solidFill>
                            <a:schemeClr val="accent2"/>
                          </a:solidFill>
                          <a:latin typeface="+mn-lt"/>
                        </a:rPr>
                        <a:t>Energía fotovoltaica </a:t>
                      </a:r>
                      <a:r>
                        <a:rPr lang="es-ES_tradnl" sz="1400" u="none" dirty="0" err="1">
                          <a:solidFill>
                            <a:schemeClr val="accent2"/>
                          </a:solidFill>
                          <a:latin typeface="+mn-lt"/>
                        </a:rPr>
                        <a:t>autoconsumida</a:t>
                      </a:r>
                      <a:endParaRPr lang="es-ES_tradnl" sz="1400" u="none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kWh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E</a:t>
                      </a:r>
                      <a:r>
                        <a:rPr lang="es-ES_tradnl" sz="1400" b="0" u="none" baseline="-25000" dirty="0">
                          <a:solidFill>
                            <a:schemeClr val="accent2"/>
                          </a:solidFill>
                          <a:latin typeface="+mn-lt"/>
                        </a:rPr>
                        <a:t>NUN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spcBef>
                          <a:spcPts val="600"/>
                        </a:spcBef>
                        <a:tabLst>
                          <a:tab pos="538163" algn="l"/>
                        </a:tabLst>
                      </a:pPr>
                      <a:r>
                        <a:rPr lang="es-ES_tradnl" sz="1400" u="none" dirty="0">
                          <a:solidFill>
                            <a:schemeClr val="accent2"/>
                          </a:solidFill>
                          <a:latin typeface="+mn-lt"/>
                        </a:rPr>
                        <a:t>Energía neta aportada por la red</a:t>
                      </a: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kWh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405" name="9 Rectángulo">
            <a:extLst>
              <a:ext uri="{FF2B5EF4-FFF2-40B4-BE49-F238E27FC236}">
                <a16:creationId xmlns:a16="http://schemas.microsoft.com/office/drawing/2014/main" id="{3C17F6AC-0C7D-4EC9-8992-7FBF653FC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5996" y="6084437"/>
            <a:ext cx="457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 sz="1400" b="0" i="1" dirty="0">
                <a:solidFill>
                  <a:schemeClr val="tx1"/>
                </a:solidFill>
              </a:rPr>
              <a:t>Poner valores numéricos sobre el esquema</a:t>
            </a:r>
            <a:endParaRPr lang="es-ES" altLang="es-ES" sz="1400" dirty="0"/>
          </a:p>
        </p:txBody>
      </p:sp>
      <p:sp>
        <p:nvSpPr>
          <p:cNvPr id="57407" name="CuadroTexto 6">
            <a:extLst>
              <a:ext uri="{FF2B5EF4-FFF2-40B4-BE49-F238E27FC236}">
                <a16:creationId xmlns:a16="http://schemas.microsoft.com/office/drawing/2014/main" id="{037AD9F1-8678-41E2-B177-43469F43C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2CC1A424-33DD-4EA8-A933-55A2CCDF6083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30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</p:spTree>
    <p:extLst>
      <p:ext uri="{BB962C8B-B14F-4D97-AF65-F5344CB8AC3E}">
        <p14:creationId xmlns:p14="http://schemas.microsoft.com/office/powerpoint/2010/main" val="344885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77">
            <a:extLst>
              <a:ext uri="{FF2B5EF4-FFF2-40B4-BE49-F238E27FC236}">
                <a16:creationId xmlns:a16="http://schemas.microsoft.com/office/drawing/2014/main" id="{66F9151E-C077-4003-ABA8-56B667EE8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2" y="232102"/>
            <a:ext cx="6911975" cy="394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52500" indent="-9525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 sz="1800" dirty="0">
                <a:solidFill>
                  <a:schemeClr val="accent2"/>
                </a:solidFill>
              </a:rPr>
              <a:t>Resumen de resultados  energéticos </a:t>
            </a:r>
            <a:r>
              <a:rPr lang="es-ES_tradnl" altLang="es-ES" sz="1800" b="0" dirty="0">
                <a:solidFill>
                  <a:schemeClr val="accent2"/>
                </a:solidFill>
              </a:rPr>
              <a:t>(valores anuales)</a:t>
            </a:r>
            <a:endParaRPr lang="es-ES" altLang="es-ES" sz="1800" b="0" dirty="0">
              <a:solidFill>
                <a:schemeClr val="accent2"/>
              </a:solidFill>
            </a:endParaRPr>
          </a:p>
        </p:txBody>
      </p:sp>
      <p:grpSp>
        <p:nvGrpSpPr>
          <p:cNvPr id="54275" name="6 Grupo">
            <a:extLst>
              <a:ext uri="{FF2B5EF4-FFF2-40B4-BE49-F238E27FC236}">
                <a16:creationId xmlns:a16="http://schemas.microsoft.com/office/drawing/2014/main" id="{7DF93F6B-F0B8-412A-B65F-A97A3E0AEADE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54314" name="7 Elipse">
              <a:extLst>
                <a:ext uri="{FF2B5EF4-FFF2-40B4-BE49-F238E27FC236}">
                  <a16:creationId xmlns:a16="http://schemas.microsoft.com/office/drawing/2014/main" id="{DE55403D-23B9-4CD3-9DFE-EEC8FFEF8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54315" name="8 Flecha derecha">
              <a:extLst>
                <a:ext uri="{FF2B5EF4-FFF2-40B4-BE49-F238E27FC236}">
                  <a16:creationId xmlns:a16="http://schemas.microsoft.com/office/drawing/2014/main" id="{CDC477E5-6C45-4903-9560-E8B572923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10" name="Group 41">
            <a:extLst>
              <a:ext uri="{FF2B5EF4-FFF2-40B4-BE49-F238E27FC236}">
                <a16:creationId xmlns:a16="http://schemas.microsoft.com/office/drawing/2014/main" id="{68084A80-7597-4C99-8C33-E8CBBDB73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022922"/>
              </p:ext>
            </p:extLst>
          </p:nvPr>
        </p:nvGraphicFramePr>
        <p:xfrm>
          <a:off x="683568" y="876189"/>
          <a:ext cx="7790612" cy="5380442"/>
        </p:xfrm>
        <a:graphic>
          <a:graphicData uri="http://schemas.openxmlformats.org/drawingml/2006/table">
            <a:tbl>
              <a:tblPr/>
              <a:tblGrid>
                <a:gridCol w="4377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1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6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Parámetro</a:t>
                      </a: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Valor</a:t>
                      </a: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Unidades</a:t>
                      </a: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Irradiación global (sobre el generador fotovoltaico)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Y</a:t>
                      </a:r>
                      <a:r>
                        <a:rPr kumimoji="0" lang="es-ES" sz="14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R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kWh</a:t>
                      </a:r>
                      <a:r>
                        <a:rPr kumimoji="0" lang="es-E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/m</a:t>
                      </a:r>
                      <a:r>
                        <a:rPr kumimoji="0" lang="es-ES" sz="1400" b="0" i="0" u="none" strike="noStrike" kern="1200" cap="none" normalizeH="0" baseline="30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361">
                <a:tc>
                  <a:txBody>
                    <a:bodyPr/>
                    <a:lstStyle/>
                    <a:p>
                      <a:pPr lvl="0"/>
                      <a:r>
                        <a:rPr kumimoji="0" lang="es-E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Índice de productividad del generador fotovoltaico</a:t>
                      </a: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Y</a:t>
                      </a:r>
                      <a:r>
                        <a:rPr kumimoji="0" lang="es-ES" sz="14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A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kWh</a:t>
                      </a:r>
                      <a:r>
                        <a:rPr kumimoji="0" lang="es-E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s-ES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kWp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307"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kumimoji="0" lang="es-E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Índice de productividad final del sistema fotovoltaico</a:t>
                      </a: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Y</a:t>
                      </a:r>
                      <a:r>
                        <a:rPr kumimoji="0" lang="es-ES" sz="14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kWh</a:t>
                      </a:r>
                      <a:r>
                        <a:rPr kumimoji="0" lang="es-E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s-ES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kWp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kumimoji="0" lang="es-E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Rendimiento (Performance Ratio)</a:t>
                      </a: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PR</a:t>
                      </a: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%</a:t>
                      </a: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6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Energía total producida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</a:t>
                      </a:r>
                      <a:r>
                        <a:rPr kumimoji="0" lang="es-E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PV</a:t>
                      </a: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kWh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668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Bef>
                          <a:spcPts val="600"/>
                        </a:spcBef>
                        <a:tabLst>
                          <a:tab pos="538163" algn="l"/>
                        </a:tabLst>
                      </a:pPr>
                      <a:r>
                        <a:rPr lang="es-ES_tradnl" sz="1400" b="1" u="none" dirty="0">
                          <a:solidFill>
                            <a:schemeClr val="accent2"/>
                          </a:solidFill>
                          <a:latin typeface="+mn-lt"/>
                        </a:rPr>
                        <a:t>Autoconsumo</a:t>
                      </a: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A</a:t>
                      </a:r>
                      <a:r>
                        <a:rPr lang="es-ES_tradnl" sz="1400" b="0" u="none" baseline="-25000" dirty="0">
                          <a:solidFill>
                            <a:schemeClr val="accent2"/>
                          </a:solidFill>
                          <a:latin typeface="+mn-lt"/>
                        </a:rPr>
                        <a:t>PV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%</a:t>
                      </a: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476377"/>
                  </a:ext>
                </a:extLst>
              </a:tr>
              <a:tr h="510668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Bef>
                          <a:spcPts val="600"/>
                        </a:spcBef>
                        <a:tabLst>
                          <a:tab pos="538163" algn="l"/>
                        </a:tabLst>
                      </a:pPr>
                      <a:r>
                        <a:rPr lang="es-ES_tradnl" sz="1400" b="1" u="none" dirty="0">
                          <a:solidFill>
                            <a:schemeClr val="accent2"/>
                          </a:solidFill>
                          <a:latin typeface="+mn-lt"/>
                        </a:rPr>
                        <a:t>Autosuficiencia energética sin balance neto</a:t>
                      </a: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C</a:t>
                      </a:r>
                      <a:r>
                        <a:rPr lang="es-ES_tradnl" sz="1400" b="0" u="none" baseline="-25000" dirty="0">
                          <a:solidFill>
                            <a:schemeClr val="accent2"/>
                          </a:solidFill>
                          <a:latin typeface="+mn-lt"/>
                        </a:rPr>
                        <a:t>D</a:t>
                      </a: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 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%</a:t>
                      </a: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378837"/>
                  </a:ext>
                </a:extLst>
              </a:tr>
              <a:tr h="510668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Bef>
                          <a:spcPts val="600"/>
                        </a:spcBef>
                        <a:tabLst>
                          <a:tab pos="538163" algn="l"/>
                        </a:tabLst>
                      </a:pPr>
                      <a:r>
                        <a:rPr lang="es-ES_tradnl" sz="1400" b="1" u="none" dirty="0">
                          <a:solidFill>
                            <a:schemeClr val="accent2"/>
                          </a:solidFill>
                          <a:latin typeface="+mn-lt"/>
                        </a:rPr>
                        <a:t>Autosuficiencia energética con balance neto</a:t>
                      </a: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C</a:t>
                      </a:r>
                      <a:r>
                        <a:rPr lang="es-ES_tradnl" sz="1400" b="0" u="none" baseline="-25000" dirty="0">
                          <a:solidFill>
                            <a:schemeClr val="accent2"/>
                          </a:solidFill>
                          <a:latin typeface="+mn-lt"/>
                        </a:rPr>
                        <a:t>D,NM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%</a:t>
                      </a: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992643"/>
                  </a:ext>
                </a:extLst>
              </a:tr>
              <a:tr h="5106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38163" algn="l"/>
                        </a:tabLst>
                        <a:defRPr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  <a:cs typeface="Arial" pitchFamily="34" charset="0"/>
                        </a:rPr>
                        <a:t>Dependencia de la red</a:t>
                      </a: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b="0" u="none" dirty="0">
                          <a:solidFill>
                            <a:schemeClr val="accent2"/>
                          </a:solidFill>
                          <a:latin typeface="+mn-lt"/>
                        </a:rPr>
                        <a:t>D</a:t>
                      </a:r>
                      <a:r>
                        <a:rPr lang="es-ES_tradnl" sz="1400" b="0" u="none" baseline="-25000" dirty="0">
                          <a:solidFill>
                            <a:schemeClr val="accent2"/>
                          </a:solidFill>
                          <a:latin typeface="+mn-lt"/>
                        </a:rPr>
                        <a:t>G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90020" marR="90020" marT="36001" marB="36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 marL="133334" marR="133334" marT="133383" marB="1333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%</a:t>
                      </a:r>
                    </a:p>
                  </a:txBody>
                  <a:tcPr marL="90020" marR="90020" marT="36001" marB="3600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182417"/>
                  </a:ext>
                </a:extLst>
              </a:tr>
            </a:tbl>
          </a:graphicData>
        </a:graphic>
      </p:graphicFrame>
      <p:sp>
        <p:nvSpPr>
          <p:cNvPr id="54313" name="CuadroTexto 6">
            <a:extLst>
              <a:ext uri="{FF2B5EF4-FFF2-40B4-BE49-F238E27FC236}">
                <a16:creationId xmlns:a16="http://schemas.microsoft.com/office/drawing/2014/main" id="{5EA5F736-BB28-4826-BC0E-B8F246212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155E8E9E-7B28-4858-8121-EDB3C0CE1B0F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31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sp>
        <p:nvSpPr>
          <p:cNvPr id="9" name="10 Rectángulo">
            <a:extLst>
              <a:ext uri="{FF2B5EF4-FFF2-40B4-BE49-F238E27FC236}">
                <a16:creationId xmlns:a16="http://schemas.microsoft.com/office/drawing/2014/main" id="{2E5AE296-7815-43D5-B6EF-5D901EC29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5999" y="6409442"/>
            <a:ext cx="4572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 sz="1400" b="0" i="1" dirty="0">
                <a:solidFill>
                  <a:schemeClr val="tx1"/>
                </a:solidFill>
              </a:rPr>
              <a:t>* Cobertura de la demanda, autarquía, …</a:t>
            </a:r>
            <a:endParaRPr lang="es-ES" altLang="es-E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77">
            <a:extLst>
              <a:ext uri="{FF2B5EF4-FFF2-40B4-BE49-F238E27FC236}">
                <a16:creationId xmlns:a16="http://schemas.microsoft.com/office/drawing/2014/main" id="{E65AE681-E13C-48B6-B00D-C0E9F4BE4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76250"/>
            <a:ext cx="69119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52500" indent="-9525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>
                <a:solidFill>
                  <a:schemeClr val="accent2"/>
                </a:solidFill>
              </a:rPr>
              <a:t>Diagrama de barras de Y</a:t>
            </a:r>
            <a:r>
              <a:rPr lang="es-ES_tradnl" altLang="es-ES" baseline="-25000">
                <a:solidFill>
                  <a:schemeClr val="accent2"/>
                </a:solidFill>
              </a:rPr>
              <a:t>R</a:t>
            </a:r>
            <a:r>
              <a:rPr lang="es-ES_tradnl" altLang="es-ES">
                <a:solidFill>
                  <a:schemeClr val="accent2"/>
                </a:solidFill>
              </a:rPr>
              <a:t> Y</a:t>
            </a:r>
            <a:r>
              <a:rPr lang="es-ES_tradnl" altLang="es-ES" baseline="-25000">
                <a:solidFill>
                  <a:schemeClr val="accent2"/>
                </a:solidFill>
              </a:rPr>
              <a:t>A</a:t>
            </a:r>
            <a:r>
              <a:rPr lang="es-ES_tradnl" altLang="es-ES">
                <a:solidFill>
                  <a:schemeClr val="accent2"/>
                </a:solidFill>
              </a:rPr>
              <a:t> Y</a:t>
            </a:r>
            <a:r>
              <a:rPr lang="es-ES_tradnl" altLang="es-ES" baseline="-25000">
                <a:solidFill>
                  <a:schemeClr val="accent2"/>
                </a:solidFill>
              </a:rPr>
              <a:t>F</a:t>
            </a:r>
            <a:endParaRPr lang="es-ES" altLang="es-ES" baseline="-25000">
              <a:solidFill>
                <a:schemeClr val="accent2"/>
              </a:solidFill>
            </a:endParaRPr>
          </a:p>
        </p:txBody>
      </p:sp>
      <p:grpSp>
        <p:nvGrpSpPr>
          <p:cNvPr id="55299" name="6 Grupo">
            <a:extLst>
              <a:ext uri="{FF2B5EF4-FFF2-40B4-BE49-F238E27FC236}">
                <a16:creationId xmlns:a16="http://schemas.microsoft.com/office/drawing/2014/main" id="{484C58E1-5888-4D74-A03B-C7431D2F9651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55301" name="7 Elipse">
              <a:extLst>
                <a:ext uri="{FF2B5EF4-FFF2-40B4-BE49-F238E27FC236}">
                  <a16:creationId xmlns:a16="http://schemas.microsoft.com/office/drawing/2014/main" id="{3BA830C0-9773-44BE-9EB3-CD2A91860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55302" name="8 Flecha derecha">
              <a:extLst>
                <a:ext uri="{FF2B5EF4-FFF2-40B4-BE49-F238E27FC236}">
                  <a16:creationId xmlns:a16="http://schemas.microsoft.com/office/drawing/2014/main" id="{62ED35CF-CACA-4BAF-8967-A7A038291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55300" name="CuadroTexto 5">
            <a:extLst>
              <a:ext uri="{FF2B5EF4-FFF2-40B4-BE49-F238E27FC236}">
                <a16:creationId xmlns:a16="http://schemas.microsoft.com/office/drawing/2014/main" id="{F4290937-03BC-4D76-9C2E-6CF11FB9B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D2D8ABFC-1EFD-4755-9E0E-11DA833882A9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32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52AAC474-264D-4ECB-8A3C-66C21FD186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081687"/>
              </p:ext>
            </p:extLst>
          </p:nvPr>
        </p:nvGraphicFramePr>
        <p:xfrm>
          <a:off x="0" y="1556792"/>
          <a:ext cx="9064625" cy="419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Worksheet" r:id="rId4" imgW="6391345" imgH="2952720" progId="Excel.Sheet.8">
                  <p:embed/>
                </p:oleObj>
              </mc:Choice>
              <mc:Fallback>
                <p:oleObj name="Worksheet" r:id="rId4" imgW="6391345" imgH="2952720" progId="Excel.Sheet.8">
                  <p:embed/>
                  <p:pic>
                    <p:nvPicPr>
                      <p:cNvPr id="84994" name="Object 2">
                        <a:extLst>
                          <a:ext uri="{FF2B5EF4-FFF2-40B4-BE49-F238E27FC236}">
                            <a16:creationId xmlns:a16="http://schemas.microsoft.com/office/drawing/2014/main" id="{52AAC474-264D-4ECB-8A3C-66C21FD186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56792"/>
                        <a:ext cx="9064625" cy="419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77">
            <a:extLst>
              <a:ext uri="{FF2B5EF4-FFF2-40B4-BE49-F238E27FC236}">
                <a16:creationId xmlns:a16="http://schemas.microsoft.com/office/drawing/2014/main" id="{19316212-182B-4598-9C86-C3FD4BD9D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76250"/>
            <a:ext cx="6911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52500" indent="-9525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>
                <a:solidFill>
                  <a:schemeClr val="accent2"/>
                </a:solidFill>
              </a:rPr>
              <a:t>Diagrama de barras del PR</a:t>
            </a:r>
            <a:endParaRPr lang="es-ES" altLang="es-ES" baseline="-25000">
              <a:solidFill>
                <a:schemeClr val="accent2"/>
              </a:solidFill>
            </a:endParaRPr>
          </a:p>
        </p:txBody>
      </p:sp>
      <p:grpSp>
        <p:nvGrpSpPr>
          <p:cNvPr id="56323" name="6 Grupo">
            <a:extLst>
              <a:ext uri="{FF2B5EF4-FFF2-40B4-BE49-F238E27FC236}">
                <a16:creationId xmlns:a16="http://schemas.microsoft.com/office/drawing/2014/main" id="{076E338B-A6D0-4291-9B28-B078CB9AFA8C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56325" name="7 Elipse">
              <a:extLst>
                <a:ext uri="{FF2B5EF4-FFF2-40B4-BE49-F238E27FC236}">
                  <a16:creationId xmlns:a16="http://schemas.microsoft.com/office/drawing/2014/main" id="{5A767813-938A-4C20-A18B-A7D9880CC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56326" name="8 Flecha derecha">
              <a:extLst>
                <a:ext uri="{FF2B5EF4-FFF2-40B4-BE49-F238E27FC236}">
                  <a16:creationId xmlns:a16="http://schemas.microsoft.com/office/drawing/2014/main" id="{A5C85538-39F4-4715-A4EC-E522828E3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56324" name="CuadroTexto 5">
            <a:extLst>
              <a:ext uri="{FF2B5EF4-FFF2-40B4-BE49-F238E27FC236}">
                <a16:creationId xmlns:a16="http://schemas.microsoft.com/office/drawing/2014/main" id="{50CDCC06-CBF4-4D85-9B48-F24C2F773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E9EBCD62-2BB3-4EAA-A67F-A2BF56B31EA2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33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16B1041B-BAF8-4C7B-8788-0B76324996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209459"/>
              </p:ext>
            </p:extLst>
          </p:nvPr>
        </p:nvGraphicFramePr>
        <p:xfrm>
          <a:off x="21814" y="1196752"/>
          <a:ext cx="9064625" cy="485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Worksheet" r:id="rId4" imgW="6315168" imgH="3381480" progId="Excel.Sheet.8">
                  <p:embed/>
                </p:oleObj>
              </mc:Choice>
              <mc:Fallback>
                <p:oleObj name="Worksheet" r:id="rId4" imgW="6315168" imgH="3381480" progId="Excel.Sheet.8">
                  <p:embed/>
                  <p:pic>
                    <p:nvPicPr>
                      <p:cNvPr id="87042" name="Object 2">
                        <a:extLst>
                          <a:ext uri="{FF2B5EF4-FFF2-40B4-BE49-F238E27FC236}">
                            <a16:creationId xmlns:a16="http://schemas.microsoft.com/office/drawing/2014/main" id="{16B1041B-BAF8-4C7B-8788-0B76324996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4" y="1196752"/>
                        <a:ext cx="9064625" cy="485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77">
            <a:extLst>
              <a:ext uri="{FF2B5EF4-FFF2-40B4-BE49-F238E27FC236}">
                <a16:creationId xmlns:a16="http://schemas.microsoft.com/office/drawing/2014/main" id="{A273ECE6-6F81-4005-9861-157A7758D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88913"/>
            <a:ext cx="7993062" cy="427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52500" indent="-9525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s-ES_tradnl" altLang="es-ES" dirty="0">
                <a:solidFill>
                  <a:schemeClr val="accent2"/>
                </a:solidFill>
              </a:rPr>
              <a:t>Perfiles de consumo y generación para días tipo considerados</a:t>
            </a:r>
            <a:endParaRPr lang="es-ES" altLang="es-ES" dirty="0">
              <a:solidFill>
                <a:schemeClr val="accent2"/>
              </a:solidFill>
            </a:endParaRPr>
          </a:p>
        </p:txBody>
      </p:sp>
      <p:grpSp>
        <p:nvGrpSpPr>
          <p:cNvPr id="58371" name="6 Grupo">
            <a:extLst>
              <a:ext uri="{FF2B5EF4-FFF2-40B4-BE49-F238E27FC236}">
                <a16:creationId xmlns:a16="http://schemas.microsoft.com/office/drawing/2014/main" id="{CD38009E-54C9-4790-B830-3C1295A3A1E2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58384" name="7 Elipse">
              <a:extLst>
                <a:ext uri="{FF2B5EF4-FFF2-40B4-BE49-F238E27FC236}">
                  <a16:creationId xmlns:a16="http://schemas.microsoft.com/office/drawing/2014/main" id="{995CAD59-1DBE-490E-A1B0-E6BFAAD29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58385" name="8 Flecha derecha">
              <a:extLst>
                <a:ext uri="{FF2B5EF4-FFF2-40B4-BE49-F238E27FC236}">
                  <a16:creationId xmlns:a16="http://schemas.microsoft.com/office/drawing/2014/main" id="{8855B965-89DF-4330-9829-2DD1C7D9E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pSp>
        <p:nvGrpSpPr>
          <p:cNvPr id="58372" name="6 Grupo">
            <a:extLst>
              <a:ext uri="{FF2B5EF4-FFF2-40B4-BE49-F238E27FC236}">
                <a16:creationId xmlns:a16="http://schemas.microsoft.com/office/drawing/2014/main" id="{73B7E389-145A-4BBE-A163-DF52B59E10C3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4941888"/>
            <a:ext cx="936625" cy="1568450"/>
            <a:chOff x="395536" y="908720"/>
            <a:chExt cx="936104" cy="1569660"/>
          </a:xfrm>
        </p:grpSpPr>
        <p:sp>
          <p:nvSpPr>
            <p:cNvPr id="58382" name="13 Rectángulo">
              <a:extLst>
                <a:ext uri="{FF2B5EF4-FFF2-40B4-BE49-F238E27FC236}">
                  <a16:creationId xmlns:a16="http://schemas.microsoft.com/office/drawing/2014/main" id="{726D1F3B-0102-49F1-BDAF-DCA9FA4C9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908720"/>
              <a:ext cx="93610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s-ES_tradnl" altLang="es-ES" sz="9600">
                  <a:solidFill>
                    <a:srgbClr val="FF9900"/>
                  </a:solidFill>
                  <a:latin typeface="Rage Italic" panose="03070502040507070304" pitchFamily="66" charset="0"/>
                  <a:cs typeface="Miriam Fixed" panose="020B0509050101010101" pitchFamily="49" charset="-79"/>
                </a:rPr>
                <a:t>i</a:t>
              </a:r>
              <a:endParaRPr lang="es-ES" altLang="es-ES" sz="9600">
                <a:solidFill>
                  <a:srgbClr val="FF9900"/>
                </a:solidFill>
                <a:latin typeface="Rage Italic" panose="03070502040507070304" pitchFamily="66" charset="0"/>
                <a:cs typeface="Miriam Fixed" panose="020B0509050101010101" pitchFamily="49" charset="-79"/>
              </a:endParaRPr>
            </a:p>
          </p:txBody>
        </p:sp>
        <p:sp>
          <p:nvSpPr>
            <p:cNvPr id="58383" name="14 Elipse">
              <a:extLst>
                <a:ext uri="{FF2B5EF4-FFF2-40B4-BE49-F238E27FC236}">
                  <a16:creationId xmlns:a16="http://schemas.microsoft.com/office/drawing/2014/main" id="{EE739D7B-B0B8-40B7-9824-89F14D974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196752"/>
              <a:ext cx="720080" cy="792088"/>
            </a:xfrm>
            <a:prstGeom prst="ellipse">
              <a:avLst/>
            </a:prstGeom>
            <a:noFill/>
            <a:ln w="63500" algn="ctr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16" name="15 Tabla">
            <a:extLst>
              <a:ext uri="{FF2B5EF4-FFF2-40B4-BE49-F238E27FC236}">
                <a16:creationId xmlns:a16="http://schemas.microsoft.com/office/drawing/2014/main" id="{B89136A5-399A-4330-85B7-EB527874A8D3}"/>
              </a:ext>
            </a:extLst>
          </p:cNvPr>
          <p:cNvGraphicFramePr>
            <a:graphicFrameLocks noGrp="1"/>
          </p:cNvGraphicFramePr>
          <p:nvPr/>
        </p:nvGraphicFramePr>
        <p:xfrm>
          <a:off x="1763713" y="5157788"/>
          <a:ext cx="5545137" cy="1042987"/>
        </p:xfrm>
        <a:graphic>
          <a:graphicData uri="http://schemas.openxmlformats.org/drawingml/2006/table">
            <a:tbl>
              <a:tblPr/>
              <a:tblGrid>
                <a:gridCol w="1008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987">
                <a:tc>
                  <a:txBody>
                    <a:bodyPr/>
                    <a:lstStyle/>
                    <a:p>
                      <a:endParaRPr lang="es-ES" sz="1800" dirty="0"/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s-ES_tradnl" sz="1600" b="0" i="1" dirty="0">
                          <a:solidFill>
                            <a:schemeClr val="tx1"/>
                          </a:solidFill>
                        </a:rPr>
                        <a:t>Adjuntar perfiles</a:t>
                      </a:r>
                      <a:r>
                        <a:rPr lang="es-ES_tradnl" sz="1600" b="0" i="1" baseline="0" dirty="0">
                          <a:solidFill>
                            <a:schemeClr val="tx1"/>
                          </a:solidFill>
                        </a:rPr>
                        <a:t> de consumo (medidos o estimados) y de generación para días característicos</a:t>
                      </a:r>
                      <a:endParaRPr lang="es-ES" sz="16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45" marB="45745" anchor="ctr" anchorCtr="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381" name="CuadroTexto 9">
            <a:extLst>
              <a:ext uri="{FF2B5EF4-FFF2-40B4-BE49-F238E27FC236}">
                <a16:creationId xmlns:a16="http://schemas.microsoft.com/office/drawing/2014/main" id="{D961013A-487A-4FB3-AF81-7A803DF0A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3B8C10D0-4B26-4D66-BCA4-FEE5B6593BF4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34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1475941" y="878526"/>
            <a:ext cx="6120680" cy="4027407"/>
            <a:chOff x="1475941" y="878526"/>
            <a:chExt cx="6120680" cy="4027407"/>
          </a:xfrm>
        </p:grpSpPr>
        <p:pic>
          <p:nvPicPr>
            <p:cNvPr id="2" name="Imagen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5941" y="878526"/>
              <a:ext cx="6120680" cy="4027407"/>
            </a:xfrm>
            <a:prstGeom prst="rect">
              <a:avLst/>
            </a:prstGeom>
          </p:spPr>
        </p:pic>
        <p:sp>
          <p:nvSpPr>
            <p:cNvPr id="3" name="Rectángulo 2"/>
            <p:cNvSpPr/>
            <p:nvPr/>
          </p:nvSpPr>
          <p:spPr bwMode="auto">
            <a:xfrm>
              <a:off x="5508104" y="1268760"/>
              <a:ext cx="1656184" cy="360040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</a:pPr>
              <a:endParaRPr kumimoji="0" lang="es-ES" sz="2000" b="1" i="0" u="none" strike="noStrike" cap="none" normalizeH="0" baseline="0" smtClean="0">
                <a:ln>
                  <a:noFill/>
                </a:ln>
                <a:solidFill>
                  <a:srgbClr val="CC0066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>
            <a:extLst>
              <a:ext uri="{FF2B5EF4-FFF2-40B4-BE49-F238E27FC236}">
                <a16:creationId xmlns:a16="http://schemas.microsoft.com/office/drawing/2014/main" id="{0470A7E5-0275-44BF-ABA9-F5AFA466A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33375"/>
            <a:ext cx="8072438" cy="3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0800" bIns="10800" anchor="ctr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 dirty="0">
                <a:solidFill>
                  <a:schemeClr val="accent2"/>
                </a:solidFill>
              </a:rPr>
              <a:t>Análisis de rentabilidad: Presupuesto instalación de …… </a:t>
            </a:r>
            <a:r>
              <a:rPr lang="es-ES_tradnl" altLang="es-ES" sz="1800" dirty="0" err="1">
                <a:solidFill>
                  <a:schemeClr val="accent2"/>
                </a:solidFill>
              </a:rPr>
              <a:t>kWp</a:t>
            </a:r>
            <a:endParaRPr lang="es-ES" altLang="es-ES" sz="1800" dirty="0">
              <a:solidFill>
                <a:schemeClr val="accent2"/>
              </a:solidFill>
            </a:endParaRPr>
          </a:p>
        </p:txBody>
      </p:sp>
      <p:graphicFrame>
        <p:nvGraphicFramePr>
          <p:cNvPr id="381079" name="Group 151">
            <a:extLst>
              <a:ext uri="{FF2B5EF4-FFF2-40B4-BE49-F238E27FC236}">
                <a16:creationId xmlns:a16="http://schemas.microsoft.com/office/drawing/2014/main" id="{9BB0C139-5E52-464F-B22F-DC4504AD1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0994"/>
              </p:ext>
            </p:extLst>
          </p:nvPr>
        </p:nvGraphicFramePr>
        <p:xfrm>
          <a:off x="666750" y="1277178"/>
          <a:ext cx="7775575" cy="3832346"/>
        </p:xfrm>
        <a:graphic>
          <a:graphicData uri="http://schemas.openxmlformats.org/drawingml/2006/table">
            <a:tbl>
              <a:tblPr/>
              <a:tblGrid>
                <a:gridCol w="584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5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1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2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Ud.</a:t>
                      </a: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Concepto*</a:t>
                      </a: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Coste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unidad</a:t>
                      </a: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Coste total</a:t>
                      </a: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Módulos</a:t>
                      </a: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Inversor</a:t>
                      </a: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Instalación eléctrica</a:t>
                      </a: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Estructura soporte </a:t>
                      </a: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6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Medida y monitorización</a:t>
                      </a: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2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Montaje y puesta en marcha</a:t>
                      </a: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220567"/>
                  </a:ext>
                </a:extLst>
              </a:tr>
              <a:tr h="355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Ingeniería, gastos admón., beneficio industrial</a:t>
                      </a: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etc. </a:t>
                      </a: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13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9985" marR="89985" marT="46790" marB="467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9985" marR="89985" marT="46790" marB="467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9447" name="Text Box 153">
            <a:extLst>
              <a:ext uri="{FF2B5EF4-FFF2-40B4-BE49-F238E27FC236}">
                <a16:creationId xmlns:a16="http://schemas.microsoft.com/office/drawing/2014/main" id="{BE7EBA8D-2EDA-4076-AE1E-CCD145830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10" y="5290963"/>
            <a:ext cx="8727854" cy="379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" altLang="es-ES" sz="1600" b="0" i="1" dirty="0">
                <a:solidFill>
                  <a:schemeClr val="tx1"/>
                </a:solidFill>
              </a:rPr>
              <a:t>Indicar la fuente de datos de costes: costes medios del mercado fotovoltaico español, etc.</a:t>
            </a:r>
          </a:p>
        </p:txBody>
      </p:sp>
      <p:grpSp>
        <p:nvGrpSpPr>
          <p:cNvPr id="59448" name="5 Grupo">
            <a:extLst>
              <a:ext uri="{FF2B5EF4-FFF2-40B4-BE49-F238E27FC236}">
                <a16:creationId xmlns:a16="http://schemas.microsoft.com/office/drawing/2014/main" id="{B5C439B1-F392-478F-B6BA-9A25CD7805A4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59451" name="6 Elipse">
              <a:extLst>
                <a:ext uri="{FF2B5EF4-FFF2-40B4-BE49-F238E27FC236}">
                  <a16:creationId xmlns:a16="http://schemas.microsoft.com/office/drawing/2014/main" id="{FD462B0F-FA5C-4066-A232-B9F16F64A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59452" name="7 Flecha derecha">
              <a:extLst>
                <a:ext uri="{FF2B5EF4-FFF2-40B4-BE49-F238E27FC236}">
                  <a16:creationId xmlns:a16="http://schemas.microsoft.com/office/drawing/2014/main" id="{AFF4834E-2990-4B46-8FAD-99D338F73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59449" name="8 Rectángulo">
            <a:extLst>
              <a:ext uri="{FF2B5EF4-FFF2-40B4-BE49-F238E27FC236}">
                <a16:creationId xmlns:a16="http://schemas.microsoft.com/office/drawing/2014/main" id="{65BC624C-C3B7-41F1-9F02-3F0324385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620713"/>
            <a:ext cx="45720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dirty="0" smtClean="0">
                <a:solidFill>
                  <a:schemeClr val="accent2"/>
                </a:solidFill>
              </a:rPr>
              <a:t>CAPEX Costes </a:t>
            </a:r>
            <a:r>
              <a:rPr lang="es-ES_tradnl" altLang="es-ES" dirty="0">
                <a:solidFill>
                  <a:schemeClr val="accent2"/>
                </a:solidFill>
              </a:rPr>
              <a:t>de inversión</a:t>
            </a:r>
            <a:endParaRPr lang="es-ES" altLang="es-ES" dirty="0">
              <a:solidFill>
                <a:schemeClr val="accent2"/>
              </a:solidFill>
            </a:endParaRPr>
          </a:p>
        </p:txBody>
      </p:sp>
      <p:sp>
        <p:nvSpPr>
          <p:cNvPr id="59450" name="CuadroTexto 8">
            <a:extLst>
              <a:ext uri="{FF2B5EF4-FFF2-40B4-BE49-F238E27FC236}">
                <a16:creationId xmlns:a16="http://schemas.microsoft.com/office/drawing/2014/main" id="{8B0BEE63-075A-4A12-B3B3-6F155905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F859B49A-AB5F-4052-871F-276477BE562C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35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sp>
        <p:nvSpPr>
          <p:cNvPr id="10" name="Text Box 153">
            <a:extLst>
              <a:ext uri="{FF2B5EF4-FFF2-40B4-BE49-F238E27FC236}">
                <a16:creationId xmlns:a16="http://schemas.microsoft.com/office/drawing/2014/main" id="{C2B45DDE-8E9F-4416-AC1A-0B30D04CA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073" y="5865520"/>
            <a:ext cx="8727854" cy="379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" altLang="es-ES" sz="1600" b="0" i="1" dirty="0">
                <a:solidFill>
                  <a:schemeClr val="tx1"/>
                </a:solidFill>
              </a:rPr>
              <a:t>* Adaptar la tabla según preferencias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>
            <a:extLst>
              <a:ext uri="{FF2B5EF4-FFF2-40B4-BE49-F238E27FC236}">
                <a16:creationId xmlns:a16="http://schemas.microsoft.com/office/drawing/2014/main" id="{96D23191-9425-4877-A92D-3F345F2B6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07" y="286228"/>
            <a:ext cx="8072438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0800" bIns="10800" anchor="ctr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1800" dirty="0">
                <a:solidFill>
                  <a:schemeClr val="accent2"/>
                </a:solidFill>
              </a:rPr>
              <a:t>Análisis de rentabilidad: </a:t>
            </a:r>
            <a:r>
              <a:rPr lang="es-ES_tradnl" altLang="es-ES" sz="1800" dirty="0" smtClean="0">
                <a:solidFill>
                  <a:schemeClr val="accent2"/>
                </a:solidFill>
              </a:rPr>
              <a:t>OPEX Costes </a:t>
            </a:r>
            <a:r>
              <a:rPr lang="es-ES_tradnl" altLang="es-ES" sz="1800" dirty="0">
                <a:solidFill>
                  <a:schemeClr val="accent2"/>
                </a:solidFill>
              </a:rPr>
              <a:t>de operación y </a:t>
            </a:r>
            <a:r>
              <a:rPr lang="es-ES_tradnl" altLang="es-ES" sz="1800" dirty="0" smtClean="0">
                <a:solidFill>
                  <a:schemeClr val="accent2"/>
                </a:solidFill>
              </a:rPr>
              <a:t>mantenimiento </a:t>
            </a:r>
            <a:endParaRPr lang="es-ES" altLang="es-ES" sz="1800" dirty="0">
              <a:solidFill>
                <a:schemeClr val="accent2"/>
              </a:solidFill>
            </a:endParaRPr>
          </a:p>
        </p:txBody>
      </p:sp>
      <p:sp>
        <p:nvSpPr>
          <p:cNvPr id="60419" name="Text Box 153">
            <a:extLst>
              <a:ext uri="{FF2B5EF4-FFF2-40B4-BE49-F238E27FC236}">
                <a16:creationId xmlns:a16="http://schemas.microsoft.com/office/drawing/2014/main" id="{26E32C94-A7B1-4110-8F98-31C1494A5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5" y="5445224"/>
            <a:ext cx="8477250" cy="379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" altLang="es-ES" sz="1600" b="0" i="1" dirty="0">
                <a:solidFill>
                  <a:schemeClr val="tx1"/>
                </a:solidFill>
              </a:rPr>
              <a:t>Indicar la fuente de datos de costes: costes medios del mercado fotovoltaico español, etc.</a:t>
            </a:r>
          </a:p>
        </p:txBody>
      </p:sp>
      <p:grpSp>
        <p:nvGrpSpPr>
          <p:cNvPr id="60420" name="5 Grupo">
            <a:extLst>
              <a:ext uri="{FF2B5EF4-FFF2-40B4-BE49-F238E27FC236}">
                <a16:creationId xmlns:a16="http://schemas.microsoft.com/office/drawing/2014/main" id="{F19ED3AA-C96F-4E68-B22E-92F7172795A5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60452" name="6 Elipse">
              <a:extLst>
                <a:ext uri="{FF2B5EF4-FFF2-40B4-BE49-F238E27FC236}">
                  <a16:creationId xmlns:a16="http://schemas.microsoft.com/office/drawing/2014/main" id="{25B8F19F-4158-416C-8132-97BE2411D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60453" name="7 Flecha derecha">
              <a:extLst>
                <a:ext uri="{FF2B5EF4-FFF2-40B4-BE49-F238E27FC236}">
                  <a16:creationId xmlns:a16="http://schemas.microsoft.com/office/drawing/2014/main" id="{F17A8CB3-8536-442E-A90A-D37FA97DC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graphicFrame>
        <p:nvGraphicFramePr>
          <p:cNvPr id="9" name="8 Tabla">
            <a:extLst>
              <a:ext uri="{FF2B5EF4-FFF2-40B4-BE49-F238E27FC236}">
                <a16:creationId xmlns:a16="http://schemas.microsoft.com/office/drawing/2014/main" id="{768351ED-A362-40F5-A187-DB19D338D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638253"/>
              </p:ext>
            </p:extLst>
          </p:nvPr>
        </p:nvGraphicFramePr>
        <p:xfrm>
          <a:off x="1547813" y="981075"/>
          <a:ext cx="5976937" cy="4165889"/>
        </p:xfrm>
        <a:graphic>
          <a:graphicData uri="http://schemas.openxmlformats.org/drawingml/2006/table">
            <a:tbl>
              <a:tblPr/>
              <a:tblGrid>
                <a:gridCol w="3618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02169"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s-ES" sz="1800" b="1" dirty="0">
                          <a:solidFill>
                            <a:schemeClr val="accent2"/>
                          </a:solidFill>
                          <a:latin typeface="+mn-lt"/>
                          <a:ea typeface="Times New Roman"/>
                        </a:rPr>
                        <a:t>Concepto*</a:t>
                      </a:r>
                      <a:endParaRPr lang="es-ES" sz="1800" dirty="0">
                        <a:solidFill>
                          <a:schemeClr val="accent2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108002" marR="108002" marT="143972" marB="14397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s-ES" sz="1800" b="1" dirty="0">
                          <a:solidFill>
                            <a:schemeClr val="accent2"/>
                          </a:solidFill>
                          <a:latin typeface="+mn-lt"/>
                          <a:ea typeface="Times New Roman"/>
                        </a:rPr>
                        <a:t>Coste unitario (€/</a:t>
                      </a:r>
                      <a:r>
                        <a:rPr lang="es-ES" sz="1800" b="1" dirty="0" err="1">
                          <a:solidFill>
                            <a:schemeClr val="accent2"/>
                          </a:solidFill>
                          <a:latin typeface="+mn-lt"/>
                          <a:ea typeface="Times New Roman"/>
                        </a:rPr>
                        <a:t>Wp</a:t>
                      </a:r>
                      <a:r>
                        <a:rPr lang="es-ES" sz="1800" b="1" dirty="0">
                          <a:solidFill>
                            <a:schemeClr val="accent2"/>
                          </a:solidFill>
                          <a:latin typeface="+mn-lt"/>
                          <a:ea typeface="Times New Roman"/>
                        </a:rPr>
                        <a:t>)</a:t>
                      </a:r>
                      <a:endParaRPr lang="es-ES" sz="1800" dirty="0">
                        <a:solidFill>
                          <a:schemeClr val="accent2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108002" marR="108002" marT="143972" marB="14397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s-ES" sz="1800" b="1" dirty="0">
                          <a:solidFill>
                            <a:schemeClr val="accent2"/>
                          </a:solidFill>
                          <a:latin typeface="+mn-lt"/>
                          <a:ea typeface="Times New Roman"/>
                        </a:rPr>
                        <a:t>Coste (€)</a:t>
                      </a:r>
                      <a:endParaRPr lang="es-ES" sz="1800" dirty="0">
                        <a:solidFill>
                          <a:schemeClr val="accent2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108002" marR="108002" marT="143972" marB="14397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686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accent2"/>
                          </a:solidFill>
                          <a:latin typeface="Arial Unicode MS"/>
                          <a:ea typeface="Times New Roman"/>
                        </a:rPr>
                        <a:t>Alquiler de cubierta o terreno</a:t>
                      </a:r>
                      <a:endParaRPr lang="es-ES" sz="1800" dirty="0">
                        <a:solidFill>
                          <a:schemeClr val="accent2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08002" marR="108002" marT="143972" marB="14397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es-ES" sz="1800">
                        <a:solidFill>
                          <a:schemeClr val="accent2"/>
                        </a:solidFill>
                        <a:latin typeface="Arial Unicode MS"/>
                        <a:ea typeface="Times New Roman"/>
                      </a:endParaRPr>
                    </a:p>
                  </a:txBody>
                  <a:tcPr marL="108002" marR="108002" marT="143972" marB="14397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es-ES" sz="1800">
                        <a:solidFill>
                          <a:schemeClr val="accent2"/>
                        </a:solidFill>
                        <a:latin typeface="Arial Unicode MS"/>
                        <a:ea typeface="Times New Roman"/>
                      </a:endParaRPr>
                    </a:p>
                  </a:txBody>
                  <a:tcPr marL="108002" marR="108002" marT="143972" marB="14397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686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accent2"/>
                          </a:solidFill>
                          <a:latin typeface="Arial Unicode MS"/>
                          <a:ea typeface="Times New Roman"/>
                        </a:rPr>
                        <a:t>Mantenimiento</a:t>
                      </a:r>
                      <a:endParaRPr lang="es-ES" sz="1800" dirty="0">
                        <a:solidFill>
                          <a:schemeClr val="accent2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08002" marR="108002" marT="143972" marB="14397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es-ES" sz="1800">
                        <a:solidFill>
                          <a:schemeClr val="accent2"/>
                        </a:solidFill>
                        <a:latin typeface="Arial Unicode MS"/>
                        <a:ea typeface="Times New Roman"/>
                      </a:endParaRPr>
                    </a:p>
                  </a:txBody>
                  <a:tcPr marL="108002" marR="108002" marT="143972" marB="14397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es-ES" sz="1800">
                        <a:solidFill>
                          <a:schemeClr val="accent2"/>
                        </a:solidFill>
                        <a:latin typeface="Arial Unicode MS"/>
                        <a:ea typeface="Times New Roman"/>
                      </a:endParaRPr>
                    </a:p>
                  </a:txBody>
                  <a:tcPr marL="108002" marR="108002" marT="143972" marB="14397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686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accent2"/>
                          </a:solidFill>
                          <a:latin typeface="Arial Unicode MS"/>
                          <a:ea typeface="Times New Roman"/>
                        </a:rPr>
                        <a:t>Gestión energética</a:t>
                      </a:r>
                      <a:endParaRPr lang="es-ES" sz="1800" dirty="0">
                        <a:solidFill>
                          <a:schemeClr val="accent2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08002" marR="108002" marT="143972" marB="14397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es-ES" sz="1800">
                        <a:solidFill>
                          <a:schemeClr val="accent2"/>
                        </a:solidFill>
                        <a:latin typeface="Arial Unicode MS"/>
                        <a:ea typeface="Times New Roman"/>
                      </a:endParaRPr>
                    </a:p>
                  </a:txBody>
                  <a:tcPr marL="108002" marR="108002" marT="143972" marB="14397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es-ES" sz="1800">
                        <a:solidFill>
                          <a:schemeClr val="accent2"/>
                        </a:solidFill>
                        <a:latin typeface="Arial Unicode MS"/>
                        <a:ea typeface="Times New Roman"/>
                      </a:endParaRPr>
                    </a:p>
                  </a:txBody>
                  <a:tcPr marL="108002" marR="108002" marT="143972" marB="14397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686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accent2"/>
                          </a:solidFill>
                          <a:latin typeface="Arial Unicode MS"/>
                          <a:ea typeface="Times New Roman"/>
                        </a:rPr>
                        <a:t>Seguro</a:t>
                      </a:r>
                      <a:endParaRPr lang="es-ES" sz="1800" dirty="0">
                        <a:solidFill>
                          <a:schemeClr val="accent2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08002" marR="108002" marT="143972" marB="14397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es-ES" sz="1800">
                        <a:solidFill>
                          <a:schemeClr val="accent2"/>
                        </a:solidFill>
                        <a:latin typeface="Arial Unicode MS"/>
                        <a:ea typeface="Times New Roman"/>
                      </a:endParaRPr>
                    </a:p>
                  </a:txBody>
                  <a:tcPr marL="108002" marR="108002" marT="143972" marB="14397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es-ES" sz="1800">
                        <a:solidFill>
                          <a:schemeClr val="accent2"/>
                        </a:solidFill>
                        <a:latin typeface="Arial Unicode MS"/>
                        <a:ea typeface="Times New Roman"/>
                      </a:endParaRPr>
                    </a:p>
                  </a:txBody>
                  <a:tcPr marL="108002" marR="108002" marT="143972" marB="14397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686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accent2"/>
                          </a:solidFill>
                          <a:latin typeface="Arial Unicode MS"/>
                          <a:ea typeface="Times New Roman"/>
                        </a:rPr>
                        <a:t>Total </a:t>
                      </a:r>
                      <a:endParaRPr lang="es-ES" sz="1800" dirty="0">
                        <a:solidFill>
                          <a:schemeClr val="accent2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08002" marR="108002" marT="143972" marB="14397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es-ES" sz="1800" dirty="0">
                        <a:solidFill>
                          <a:schemeClr val="accent2"/>
                        </a:solidFill>
                        <a:latin typeface="Arial Unicode MS"/>
                        <a:ea typeface="Times New Roman"/>
                      </a:endParaRPr>
                    </a:p>
                  </a:txBody>
                  <a:tcPr marL="108002" marR="108002" marT="143972" marB="14397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es-ES" sz="1800" dirty="0">
                        <a:solidFill>
                          <a:schemeClr val="accent2"/>
                        </a:solidFill>
                        <a:latin typeface="Arial Unicode MS"/>
                        <a:ea typeface="Times New Roman"/>
                      </a:endParaRPr>
                    </a:p>
                  </a:txBody>
                  <a:tcPr marL="108002" marR="108002" marT="143972" marB="14397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0451" name="CuadroTexto 7">
            <a:extLst>
              <a:ext uri="{FF2B5EF4-FFF2-40B4-BE49-F238E27FC236}">
                <a16:creationId xmlns:a16="http://schemas.microsoft.com/office/drawing/2014/main" id="{96F97909-F953-413C-A860-46628DBC2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06708704-D6B2-4B61-A81A-B5E88FA84E99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36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sp>
        <p:nvSpPr>
          <p:cNvPr id="10" name="Text Box 153">
            <a:extLst>
              <a:ext uri="{FF2B5EF4-FFF2-40B4-BE49-F238E27FC236}">
                <a16:creationId xmlns:a16="http://schemas.microsoft.com/office/drawing/2014/main" id="{A7806CCA-E23A-425D-9B44-A2461FBF8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073" y="5996831"/>
            <a:ext cx="8727854" cy="379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" altLang="es-ES" sz="1600" b="0" i="1" dirty="0">
                <a:solidFill>
                  <a:schemeClr val="tx1"/>
                </a:solidFill>
              </a:rPr>
              <a:t>* Adaptar la tabla según preferencias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>
            <a:extLst>
              <a:ext uri="{FF2B5EF4-FFF2-40B4-BE49-F238E27FC236}">
                <a16:creationId xmlns:a16="http://schemas.microsoft.com/office/drawing/2014/main" id="{1D7F22B0-7956-4FFB-A974-4627905ED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7" y="70644"/>
            <a:ext cx="79216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dirty="0">
                <a:solidFill>
                  <a:schemeClr val="accent2"/>
                </a:solidFill>
              </a:rPr>
              <a:t>Análisis de rentabilidad – cuadro resumen datos de partida</a:t>
            </a:r>
            <a:endParaRPr lang="es-ES" altLang="es-ES" dirty="0">
              <a:solidFill>
                <a:schemeClr val="accent2"/>
              </a:solidFill>
            </a:endParaRPr>
          </a:p>
        </p:txBody>
      </p:sp>
      <p:graphicFrame>
        <p:nvGraphicFramePr>
          <p:cNvPr id="408617" name="Group 41">
            <a:extLst>
              <a:ext uri="{FF2B5EF4-FFF2-40B4-BE49-F238E27FC236}">
                <a16:creationId xmlns:a16="http://schemas.microsoft.com/office/drawing/2014/main" id="{95AC76F4-E5F0-4B85-B6B1-9B52FDB43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902360"/>
              </p:ext>
            </p:extLst>
          </p:nvPr>
        </p:nvGraphicFramePr>
        <p:xfrm>
          <a:off x="1333500" y="718005"/>
          <a:ext cx="6477000" cy="5615940"/>
        </p:xfrm>
        <a:graphic>
          <a:graphicData uri="http://schemas.openxmlformats.org/drawingml/2006/table">
            <a:tbl>
              <a:tblPr/>
              <a:tblGrid>
                <a:gridCol w="483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Inversión total de la instalación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IVA ( 21 % 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Inversión total con IVA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Crédito necesario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Coste de mantenimiento anual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Coste de crédito anual a……años (……. % 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Coste total anual</a:t>
                      </a: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Ingresos </a:t>
                      </a:r>
                      <a:r>
                        <a:rPr kumimoji="0" lang="es-ES_tradnl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anuales 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Tasa de descuento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835099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Impuestos – desgravaciones </a:t>
                      </a: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itchFamily="34" charset="0"/>
                        </a:rPr>
                        <a:t>Vida media de la instalación ( años 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33350" marR="133350" marT="133350" marB="1333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63527" name="5 Grupo">
            <a:extLst>
              <a:ext uri="{FF2B5EF4-FFF2-40B4-BE49-F238E27FC236}">
                <a16:creationId xmlns:a16="http://schemas.microsoft.com/office/drawing/2014/main" id="{6FE36D02-C841-467B-A32D-E332A5B6D2F4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63529" name="6 Elipse">
              <a:extLst>
                <a:ext uri="{FF2B5EF4-FFF2-40B4-BE49-F238E27FC236}">
                  <a16:creationId xmlns:a16="http://schemas.microsoft.com/office/drawing/2014/main" id="{F2A0BCAC-1CDB-44A9-8EAE-8DCC0E36C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63530" name="7 Flecha derecha">
              <a:extLst>
                <a:ext uri="{FF2B5EF4-FFF2-40B4-BE49-F238E27FC236}">
                  <a16:creationId xmlns:a16="http://schemas.microsoft.com/office/drawing/2014/main" id="{729F5F39-953F-4ECA-9615-4760BB919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63528" name="CuadroTexto 7">
            <a:extLst>
              <a:ext uri="{FF2B5EF4-FFF2-40B4-BE49-F238E27FC236}">
                <a16:creationId xmlns:a16="http://schemas.microsoft.com/office/drawing/2014/main" id="{F9817F11-889E-42E5-A482-179897923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D7527B44-891E-4D80-A6CF-DE9988B322D8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37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CF52F8D-C9A0-48A7-B99B-168F0A2CC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14" y="6481679"/>
            <a:ext cx="838389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es-ES" altLang="es-ES" sz="1600" i="1" dirty="0">
                <a:solidFill>
                  <a:schemeClr val="tx1"/>
                </a:solidFill>
              </a:rPr>
              <a:t>Programa de apoyo para análisis de rentabilidad (</a:t>
            </a:r>
            <a:r>
              <a:rPr lang="es-ES" altLang="es-ES" sz="1600" i="1" dirty="0" err="1">
                <a:solidFill>
                  <a:schemeClr val="tx1"/>
                </a:solidFill>
              </a:rPr>
              <a:t>PVsyst</a:t>
            </a:r>
            <a:r>
              <a:rPr lang="es-ES" altLang="es-ES" sz="1600" i="1" dirty="0">
                <a:solidFill>
                  <a:schemeClr val="tx1"/>
                </a:solidFill>
              </a:rPr>
              <a:t>, </a:t>
            </a:r>
            <a:r>
              <a:rPr lang="es-ES" altLang="es-ES" sz="1600" i="1" dirty="0" err="1">
                <a:solidFill>
                  <a:schemeClr val="tx1"/>
                </a:solidFill>
              </a:rPr>
              <a:t>PVsol</a:t>
            </a:r>
            <a:r>
              <a:rPr lang="es-ES" altLang="es-ES" sz="1600" i="1" dirty="0">
                <a:solidFill>
                  <a:schemeClr val="tx1"/>
                </a:solidFill>
              </a:rPr>
              <a:t>, </a:t>
            </a:r>
            <a:r>
              <a:rPr lang="es-ES" altLang="es-ES" sz="1600" i="1" dirty="0" err="1">
                <a:solidFill>
                  <a:schemeClr val="tx1"/>
                </a:solidFill>
              </a:rPr>
              <a:t>Homer</a:t>
            </a:r>
            <a:r>
              <a:rPr lang="es-ES" altLang="es-ES" sz="1600" i="1" dirty="0">
                <a:solidFill>
                  <a:schemeClr val="tx1"/>
                </a:solidFill>
              </a:rPr>
              <a:t>, </a:t>
            </a:r>
            <a:r>
              <a:rPr lang="es-ES" altLang="es-ES" sz="1600" i="1" dirty="0" err="1">
                <a:solidFill>
                  <a:schemeClr val="tx1"/>
                </a:solidFill>
              </a:rPr>
              <a:t>RETScreen</a:t>
            </a:r>
            <a:r>
              <a:rPr lang="es-ES" altLang="es-ES" sz="1600" i="1" dirty="0">
                <a:solidFill>
                  <a:schemeClr val="tx1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Text Box 2">
            <a:extLst>
              <a:ext uri="{FF2B5EF4-FFF2-40B4-BE49-F238E27FC236}">
                <a16:creationId xmlns:a16="http://schemas.microsoft.com/office/drawing/2014/main" id="{1DB771A5-EBB6-4F74-B338-CA5D9A4D7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0" y="2348880"/>
            <a:ext cx="604837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2200" dirty="0">
                <a:solidFill>
                  <a:schemeClr val="accent2"/>
                </a:solidFill>
              </a:rPr>
              <a:t>Resultados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s-ES_tradnl" altLang="es-ES" b="0" dirty="0">
                <a:solidFill>
                  <a:schemeClr val="accent2"/>
                </a:solidFill>
              </a:rPr>
              <a:t> VAN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s-ES_tradnl" altLang="es-ES" b="0" dirty="0">
                <a:solidFill>
                  <a:schemeClr val="accent2"/>
                </a:solidFill>
              </a:rPr>
              <a:t> TIR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s-ES_tradnl" altLang="es-ES" b="0" dirty="0">
                <a:solidFill>
                  <a:schemeClr val="accent2"/>
                </a:solidFill>
              </a:rPr>
              <a:t> Período de retorno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s-ES_tradnl" altLang="es-ES" b="0" dirty="0">
                <a:solidFill>
                  <a:schemeClr val="accent2"/>
                </a:solidFill>
              </a:rPr>
              <a:t> Coste de producción: LEC (coste del </a:t>
            </a:r>
            <a:r>
              <a:rPr lang="es-ES_tradnl" altLang="es-ES" b="0" dirty="0" err="1">
                <a:solidFill>
                  <a:schemeClr val="accent2"/>
                </a:solidFill>
              </a:rPr>
              <a:t>kWh</a:t>
            </a:r>
            <a:r>
              <a:rPr lang="es-ES_tradnl" altLang="es-ES" b="0" dirty="0">
                <a:solidFill>
                  <a:schemeClr val="accent2"/>
                </a:solidFill>
              </a:rPr>
              <a:t>: €/</a:t>
            </a:r>
            <a:r>
              <a:rPr lang="es-ES_tradnl" altLang="es-ES" b="0" dirty="0" err="1">
                <a:solidFill>
                  <a:schemeClr val="accent2"/>
                </a:solidFill>
              </a:rPr>
              <a:t>kWh</a:t>
            </a:r>
            <a:r>
              <a:rPr lang="es-ES_tradnl" altLang="es-ES" b="0" dirty="0">
                <a:solidFill>
                  <a:schemeClr val="accent2"/>
                </a:solidFill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s-ES_tradnl" altLang="es-ES" b="0" dirty="0">
                <a:solidFill>
                  <a:schemeClr val="accent2"/>
                </a:solidFill>
              </a:rPr>
              <a:t> Coste de instalación: €/</a:t>
            </a:r>
            <a:r>
              <a:rPr lang="es-ES_tradnl" altLang="es-ES" b="0" dirty="0" err="1">
                <a:solidFill>
                  <a:schemeClr val="accent2"/>
                </a:solidFill>
              </a:rPr>
              <a:t>Wp</a:t>
            </a:r>
            <a:endParaRPr lang="es-ES_tradnl" altLang="es-ES" b="0" dirty="0">
              <a:solidFill>
                <a:schemeClr val="accent2"/>
              </a:solidFill>
            </a:endParaRPr>
          </a:p>
        </p:txBody>
      </p:sp>
      <p:sp>
        <p:nvSpPr>
          <p:cNvPr id="64515" name="Text Box 2">
            <a:extLst>
              <a:ext uri="{FF2B5EF4-FFF2-40B4-BE49-F238E27FC236}">
                <a16:creationId xmlns:a16="http://schemas.microsoft.com/office/drawing/2014/main" id="{C133B399-E89E-448A-B860-E0A4E5414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130" y="106507"/>
            <a:ext cx="551973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dirty="0">
                <a:solidFill>
                  <a:schemeClr val="accent2"/>
                </a:solidFill>
              </a:rPr>
              <a:t>Análisis de rentabilidad</a:t>
            </a:r>
            <a:endParaRPr lang="es-ES" altLang="es-ES" dirty="0">
              <a:solidFill>
                <a:schemeClr val="accent2"/>
              </a:solidFill>
            </a:endParaRPr>
          </a:p>
        </p:txBody>
      </p:sp>
      <p:grpSp>
        <p:nvGrpSpPr>
          <p:cNvPr id="64516" name="4 Grupo">
            <a:extLst>
              <a:ext uri="{FF2B5EF4-FFF2-40B4-BE49-F238E27FC236}">
                <a16:creationId xmlns:a16="http://schemas.microsoft.com/office/drawing/2014/main" id="{319E0248-E1C8-44F2-88BE-BC2126CCB097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5888"/>
            <a:ext cx="719138" cy="792162"/>
            <a:chOff x="755576" y="2204864"/>
            <a:chExt cx="720080" cy="792088"/>
          </a:xfrm>
        </p:grpSpPr>
        <p:sp>
          <p:nvSpPr>
            <p:cNvPr id="64518" name="5 Elipse">
              <a:extLst>
                <a:ext uri="{FF2B5EF4-FFF2-40B4-BE49-F238E27FC236}">
                  <a16:creationId xmlns:a16="http://schemas.microsoft.com/office/drawing/2014/main" id="{F9E92756-E59F-44C3-9BAD-7BEDEC038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2204864"/>
              <a:ext cx="720080" cy="792088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  <p:sp>
          <p:nvSpPr>
            <p:cNvPr id="64519" name="6 Flecha derecha">
              <a:extLst>
                <a:ext uri="{FF2B5EF4-FFF2-40B4-BE49-F238E27FC236}">
                  <a16:creationId xmlns:a16="http://schemas.microsoft.com/office/drawing/2014/main" id="{106D5708-E2FD-49CD-A3D4-2D89E7F9C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420888"/>
              <a:ext cx="504056" cy="360040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CC0066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es-ES" altLang="es-ES"/>
            </a:p>
          </p:txBody>
        </p:sp>
      </p:grpSp>
      <p:sp>
        <p:nvSpPr>
          <p:cNvPr id="64517" name="CuadroTexto 6">
            <a:extLst>
              <a:ext uri="{FF2B5EF4-FFF2-40B4-BE49-F238E27FC236}">
                <a16:creationId xmlns:a16="http://schemas.microsoft.com/office/drawing/2014/main" id="{687834A8-114E-4CFC-B8C5-F36024E12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6548438"/>
            <a:ext cx="792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8A6CC658-B513-4609-BD62-27946261967D}" type="slidenum">
              <a:rPr lang="es-ES" altLang="es-ES" sz="1200" b="0" smtClean="0">
                <a:solidFill>
                  <a:schemeClr val="accent2"/>
                </a:solidFill>
              </a:rPr>
              <a:pPr algn="ctr"/>
              <a:t>38</a:t>
            </a:fld>
            <a:r>
              <a:rPr lang="es-ES" altLang="es-ES" sz="1200" b="0" dirty="0">
                <a:solidFill>
                  <a:schemeClr val="accent2"/>
                </a:solidFill>
              </a:rPr>
              <a:t>/67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740B7B53-A0B3-4B16-AA89-B8B12E87E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7" y="1187212"/>
            <a:ext cx="6626225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0066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s-ES_tradnl" altLang="es-ES" sz="2200" dirty="0">
                <a:solidFill>
                  <a:schemeClr val="accent2"/>
                </a:solidFill>
              </a:rPr>
              <a:t>Diagrama o tabla de flujo de caja</a:t>
            </a:r>
            <a:endParaRPr lang="es-ES_tradnl" altLang="es-E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18" grpId="0" build="p" autoUpdateAnimBg="0"/>
      <p:bldP spid="8" grpId="0" build="p" autoUpdateAnimBg="0"/>
    </p:bldLst>
  </p:timing>
</p:sld>
</file>

<file path=ppt/theme/theme1.xml><?xml version="1.0" encoding="utf-8"?>
<a:theme xmlns:a="http://schemas.openxmlformats.org/drawingml/2006/main" name="Diseño predeterminado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0" lang="es-ES" sz="2000" b="1" i="0" u="none" strike="noStrike" cap="none" normalizeH="0" baseline="0" smtClean="0">
            <a:ln>
              <a:noFill/>
            </a:ln>
            <a:solidFill>
              <a:srgbClr val="CC0066"/>
            </a:solidFill>
            <a:effectLst/>
            <a:latin typeface="Arial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0" lang="es-ES" sz="2000" b="1" i="0" u="none" strike="noStrike" cap="none" normalizeH="0" baseline="0" smtClean="0">
            <a:ln>
              <a:noFill/>
            </a:ln>
            <a:solidFill>
              <a:srgbClr val="CC0066"/>
            </a:solidFill>
            <a:effectLst/>
            <a:latin typeface="Arial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</TotalTime>
  <Words>2235</Words>
  <Application>Microsoft Office PowerPoint</Application>
  <PresentationFormat>Presentación en pantalla (4:3)</PresentationFormat>
  <Paragraphs>416</Paragraphs>
  <Slides>38</Slides>
  <Notes>11</Notes>
  <HiddenSlides>0</HiddenSlides>
  <MMClips>0</MMClips>
  <ScaleCrop>false</ScaleCrop>
  <HeadingPairs>
    <vt:vector size="8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38</vt:i4>
      </vt:variant>
    </vt:vector>
  </HeadingPairs>
  <TitlesOfParts>
    <vt:vector size="53" baseType="lpstr">
      <vt:lpstr>Arial</vt:lpstr>
      <vt:lpstr>Arial Unicode MS</vt:lpstr>
      <vt:lpstr>Calibri</vt:lpstr>
      <vt:lpstr>Cambria Math</vt:lpstr>
      <vt:lpstr>Courier New</vt:lpstr>
      <vt:lpstr>Miriam Fixed</vt:lpstr>
      <vt:lpstr>PMingLiU</vt:lpstr>
      <vt:lpstr>Rage Italic</vt:lpstr>
      <vt:lpstr>Symbol</vt:lpstr>
      <vt:lpstr>Times New Roman</vt:lpstr>
      <vt:lpstr>Wingdings</vt:lpstr>
      <vt:lpstr>Wingdings 3</vt:lpstr>
      <vt:lpstr>Diseño predeterminado</vt:lpstr>
      <vt:lpstr>Ecuación</vt:lpstr>
      <vt:lpstr>Worksheet</vt:lpstr>
      <vt:lpstr>Presentación de PowerPoint</vt:lpstr>
      <vt:lpstr>Guía para la realización del estudio de autoconsumo fotovoltaico conectado a red en edificios</vt:lpstr>
      <vt:lpstr>Título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xxxxxx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LOS PARÁMETROS TÉCNICOS EN LA APLICACIÓN DE LOS SISTEMAS DE INFORMACIÓN GEOGRÁFICA A LA INTEGRACIÓN REGIONAL DE LAS ENERGÍAS RENOVABLES EN LA PRODUCCIÓN DESCENTRALIZADA DE ELECTRICIDAD</dc:title>
  <dc:creator>xxxxxx</dc:creator>
  <cp:lastModifiedBy>Julio Amador</cp:lastModifiedBy>
  <cp:revision>370</cp:revision>
  <dcterms:created xsi:type="dcterms:W3CDTF">2000-07-06T02:45:18Z</dcterms:created>
  <dcterms:modified xsi:type="dcterms:W3CDTF">2025-11-27T16:57:28Z</dcterms:modified>
</cp:coreProperties>
</file>